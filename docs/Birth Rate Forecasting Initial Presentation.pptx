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6" autoAdjust="0"/>
    <p:restoredTop sz="94660"/>
  </p:normalViewPr>
  <p:slideViewPr>
    <p:cSldViewPr snapToGrid="0">
      <p:cViewPr varScale="1">
        <p:scale>
          <a:sx n="157" d="100"/>
          <a:sy n="157" d="100"/>
        </p:scale>
        <p:origin x="28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3245CCC-2700-400C-AA9A-1249B4744E29}" type="datetimeFigureOut">
              <a:rPr lang="en-US" smtClean="0"/>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3113079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245CCC-2700-400C-AA9A-1249B4744E29}" type="datetimeFigureOut">
              <a:rPr lang="en-US" smtClean="0"/>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3955155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245CCC-2700-400C-AA9A-1249B4744E29}" type="datetimeFigureOut">
              <a:rPr lang="en-US" smtClean="0"/>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1867537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3245CCC-2700-400C-AA9A-1249B4744E29}" type="datetimeFigureOut">
              <a:rPr lang="en-US" smtClean="0"/>
              <a:t>3/14/2026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2895151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245CCC-2700-400C-AA9A-1249B4744E29}" type="datetimeFigureOut">
              <a:rPr lang="en-US" smtClean="0"/>
              <a:t>3/14/2026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4158959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3245CCC-2700-400C-AA9A-1249B4744E29}" type="datetimeFigureOut">
              <a:rPr lang="en-US" smtClean="0"/>
              <a:t>3/14/2026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594580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245CCC-2700-400C-AA9A-1249B4744E29}" type="datetimeFigureOut">
              <a:rPr lang="en-US" smtClean="0"/>
              <a:t>3/14/2026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3394837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3245CCC-2700-400C-AA9A-1249B4744E29}" type="datetimeFigureOut">
              <a:rPr lang="en-US" smtClean="0"/>
              <a:t>3/14/2026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3771293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3245CCC-2700-400C-AA9A-1249B4744E29}" type="datetimeFigureOut">
              <a:rPr lang="en-US" smtClean="0"/>
              <a:t>3/14/2026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1862516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245CCC-2700-400C-AA9A-1249B4744E29}" type="datetimeFigureOut">
              <a:rPr lang="en-US" smtClean="0"/>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2845686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245CCC-2700-400C-AA9A-1249B4744E29}" type="datetimeFigureOut">
              <a:rPr lang="en-US" smtClean="0"/>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745487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245CCC-2700-400C-AA9A-1249B4744E29}" type="datetimeFigureOut">
              <a:rPr lang="en-US" smtClean="0"/>
              <a:t>3/14/2026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3E5252-E850-4276-87A5-C18E34BDC7B4}" type="slidenum">
              <a:rPr lang="en-US" smtClean="0"/>
              <a:t>‹#›</a:t>
            </a:fld>
            <a:endParaRPr lang="en-US"/>
          </a:p>
        </p:txBody>
      </p:sp>
    </p:spTree>
    <p:extLst>
      <p:ext uri="{BB962C8B-B14F-4D97-AF65-F5344CB8AC3E}">
        <p14:creationId xmlns:p14="http://schemas.microsoft.com/office/powerpoint/2010/main" val="1833511093"/>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CA9B3-7E61-76B0-470C-EB6CADCBF16D}"/>
              </a:ext>
            </a:extLst>
          </p:cNvPr>
          <p:cNvSpPr>
            <a:spLocks noGrp="1"/>
          </p:cNvSpPr>
          <p:nvPr>
            <p:ph type="ctrTitle"/>
          </p:nvPr>
        </p:nvSpPr>
        <p:spPr/>
        <p:txBody>
          <a:bodyPr>
            <a:noAutofit/>
          </a:bodyPr>
          <a:lstStyle/>
          <a:p>
            <a:r>
              <a:rPr lang="en-US" sz="7200" b="1" dirty="0">
                <a:solidFill>
                  <a:schemeClr val="bg1">
                    <a:lumMod val="65000"/>
                    <a:lumOff val="35000"/>
                  </a:schemeClr>
                </a:solidFill>
                <a:latin typeface="Calibri" panose="020F0502020204030204" pitchFamily="34" charset="0"/>
                <a:cs typeface="Calibri" panose="020F0502020204030204" pitchFamily="34" charset="0"/>
              </a:rPr>
              <a:t>Birth Rate Forecasting</a:t>
            </a:r>
            <a:br>
              <a:rPr lang="en-US" sz="7200" b="1" dirty="0">
                <a:solidFill>
                  <a:schemeClr val="bg1">
                    <a:lumMod val="65000"/>
                    <a:lumOff val="35000"/>
                  </a:schemeClr>
                </a:solidFill>
                <a:latin typeface="Calibri" panose="020F0502020204030204" pitchFamily="34" charset="0"/>
                <a:cs typeface="Calibri" panose="020F0502020204030204" pitchFamily="34" charset="0"/>
              </a:rPr>
            </a:br>
            <a:r>
              <a:rPr lang="en-US" sz="7200" b="1" dirty="0">
                <a:solidFill>
                  <a:schemeClr val="bg1">
                    <a:lumMod val="65000"/>
                    <a:lumOff val="35000"/>
                  </a:schemeClr>
                </a:solidFill>
                <a:latin typeface="Calibri" panose="020F0502020204030204" pitchFamily="34" charset="0"/>
                <a:cs typeface="Calibri" panose="020F0502020204030204" pitchFamily="34" charset="0"/>
              </a:rPr>
              <a:t>and Policy Insights</a:t>
            </a:r>
            <a:endParaRPr lang="en-US" sz="7200"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2E17CBFF-40F5-D130-0507-9E05419CEAAB}"/>
              </a:ext>
            </a:extLst>
          </p:cNvPr>
          <p:cNvSpPr>
            <a:spLocks noGrp="1"/>
          </p:cNvSpPr>
          <p:nvPr>
            <p:ph type="subTitle" idx="1"/>
          </p:nvPr>
        </p:nvSpPr>
        <p:spPr/>
        <p:txBody>
          <a:bodyPr>
            <a:noAutofit/>
          </a:bodyPr>
          <a:lstStyle/>
          <a:p>
            <a:r>
              <a:rPr lang="en-US" sz="3200" b="1" dirty="0">
                <a:solidFill>
                  <a:schemeClr val="accent6">
                    <a:lumMod val="50000"/>
                  </a:schemeClr>
                </a:solidFill>
              </a:rPr>
              <a:t>Team Grapefruit</a:t>
            </a:r>
            <a:br>
              <a:rPr lang="en-US" sz="3200" b="1" dirty="0">
                <a:solidFill>
                  <a:schemeClr val="accent6">
                    <a:lumMod val="50000"/>
                  </a:schemeClr>
                </a:solidFill>
              </a:rPr>
            </a:br>
            <a:r>
              <a:rPr lang="en-US" sz="3200" b="1" dirty="0">
                <a:solidFill>
                  <a:schemeClr val="accent6">
                    <a:lumMod val="50000"/>
                  </a:schemeClr>
                </a:solidFill>
              </a:rPr>
              <a:t>Jacob Brown, Connor White, Dave Hulme</a:t>
            </a:r>
          </a:p>
          <a:p>
            <a:r>
              <a:rPr lang="en-US" sz="3200" b="1" dirty="0">
                <a:solidFill>
                  <a:schemeClr val="accent6">
                    <a:lumMod val="50000"/>
                  </a:schemeClr>
                </a:solidFill>
              </a:rPr>
              <a:t>Weber State University</a:t>
            </a:r>
            <a:br>
              <a:rPr lang="en-US" sz="3200" b="1" dirty="0">
                <a:solidFill>
                  <a:schemeClr val="accent6">
                    <a:lumMod val="50000"/>
                  </a:schemeClr>
                </a:solidFill>
              </a:rPr>
            </a:br>
            <a:r>
              <a:rPr lang="en-US" sz="3200" b="1" dirty="0">
                <a:solidFill>
                  <a:schemeClr val="accent6">
                    <a:lumMod val="50000"/>
                  </a:schemeClr>
                </a:solidFill>
              </a:rPr>
              <a:t>CS 6580 – Dylan Zwick</a:t>
            </a:r>
          </a:p>
        </p:txBody>
      </p:sp>
      <p:pic>
        <p:nvPicPr>
          <p:cNvPr id="5" name="Picture 4">
            <a:extLst>
              <a:ext uri="{FF2B5EF4-FFF2-40B4-BE49-F238E27FC236}">
                <a16:creationId xmlns:a16="http://schemas.microsoft.com/office/drawing/2014/main" id="{8CC87C92-428F-0D79-3A76-90270F4B8C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2945981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D32AA809-C5B7-2BD5-64D5-D434AEDAFB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C806DD-9F69-D9B6-E35D-9DDADDDDD881}"/>
              </a:ext>
            </a:extLst>
          </p:cNvPr>
          <p:cNvSpPr>
            <a:spLocks noGrp="1"/>
          </p:cNvSpPr>
          <p:nvPr>
            <p:ph type="ctrTitle"/>
          </p:nvPr>
        </p:nvSpPr>
        <p:spPr>
          <a:xfrm>
            <a:off x="1524000" y="64087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Project Overview</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ECCBFD09-2932-CB76-12BF-B668ED5A2B00}"/>
              </a:ext>
            </a:extLst>
          </p:cNvPr>
          <p:cNvSpPr>
            <a:spLocks noGrp="1"/>
          </p:cNvSpPr>
          <p:nvPr>
            <p:ph type="subTitle" idx="1"/>
          </p:nvPr>
        </p:nvSpPr>
        <p:spPr>
          <a:xfrm>
            <a:off x="1524000" y="2129183"/>
            <a:ext cx="8980557" cy="3825460"/>
          </a:xfrm>
        </p:spPr>
        <p:txBody>
          <a:bodyPr>
            <a:noAutofit/>
          </a:bodyPr>
          <a:lstStyle/>
          <a:p>
            <a:pPr algn="l">
              <a:lnSpc>
                <a:spcPct val="120000"/>
              </a:lnSpc>
            </a:pPr>
            <a:r>
              <a:rPr lang="en-US" sz="2800" dirty="0">
                <a:solidFill>
                  <a:schemeClr val="accent6">
                    <a:lumMod val="50000"/>
                  </a:schemeClr>
                </a:solidFill>
              </a:rPr>
              <a:t>This project analyzes U.S. census, presidential election, and natality data to identify socioeconomic and political factors that influence birth rates. Using historical data from 2010 and 2020, we aim to model how these variables affect birth rates over time and generate predictions for 2030. The results are intended to support data-informed decision-making for government planning and policy development.</a:t>
            </a:r>
          </a:p>
        </p:txBody>
      </p:sp>
      <p:pic>
        <p:nvPicPr>
          <p:cNvPr id="5" name="Picture 4">
            <a:extLst>
              <a:ext uri="{FF2B5EF4-FFF2-40B4-BE49-F238E27FC236}">
                <a16:creationId xmlns:a16="http://schemas.microsoft.com/office/drawing/2014/main" id="{EAC9E7FF-84EB-DFA9-EFAE-8E37F16FF9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3847526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D7A37239-A0BA-4FC9-CF52-158E04CEF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EDE1EC-0BC2-8F5B-1E89-B79F72F535B4}"/>
              </a:ext>
            </a:extLst>
          </p:cNvPr>
          <p:cNvSpPr>
            <a:spLocks noGrp="1"/>
          </p:cNvSpPr>
          <p:nvPr>
            <p:ph type="ctrTitle"/>
          </p:nvPr>
        </p:nvSpPr>
        <p:spPr>
          <a:xfrm>
            <a:off x="1524000" y="64087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Business Question</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44B3E9EA-6E1E-1EED-6AEB-8C2B0B5BC2A2}"/>
              </a:ext>
            </a:extLst>
          </p:cNvPr>
          <p:cNvSpPr>
            <a:spLocks noGrp="1"/>
          </p:cNvSpPr>
          <p:nvPr>
            <p:ph type="subTitle" idx="1"/>
          </p:nvPr>
        </p:nvSpPr>
        <p:spPr>
          <a:xfrm>
            <a:off x="1524000" y="2129183"/>
            <a:ext cx="8980557" cy="3825460"/>
          </a:xfrm>
        </p:spPr>
        <p:txBody>
          <a:bodyPr>
            <a:noAutofit/>
          </a:bodyPr>
          <a:lstStyle/>
          <a:p>
            <a:pPr algn="l">
              <a:lnSpc>
                <a:spcPct val="120000"/>
              </a:lnSpc>
            </a:pPr>
            <a:r>
              <a:rPr lang="en-US" sz="2800" b="1" dirty="0">
                <a:solidFill>
                  <a:schemeClr val="accent6">
                    <a:lumMod val="50000"/>
                  </a:schemeClr>
                </a:solidFill>
              </a:rPr>
              <a:t>What specific problem are we solving?</a:t>
            </a:r>
          </a:p>
          <a:p>
            <a:pPr algn="l">
              <a:lnSpc>
                <a:spcPct val="120000"/>
              </a:lnSpc>
            </a:pPr>
            <a:r>
              <a:rPr lang="en-US" sz="2800" dirty="0">
                <a:solidFill>
                  <a:schemeClr val="accent6">
                    <a:lumMod val="50000"/>
                  </a:schemeClr>
                </a:solidFill>
              </a:rPr>
              <a:t>What demographic, socioeconomic, and political factors most strongly influence birth rates at the county and state level, and how can patterns observed in 2010 and 2020 be used to predict birth rate trends in 2030?</a:t>
            </a:r>
          </a:p>
        </p:txBody>
      </p:sp>
      <p:pic>
        <p:nvPicPr>
          <p:cNvPr id="5" name="Picture 4">
            <a:extLst>
              <a:ext uri="{FF2B5EF4-FFF2-40B4-BE49-F238E27FC236}">
                <a16:creationId xmlns:a16="http://schemas.microsoft.com/office/drawing/2014/main" id="{E5CCD066-B71B-CB18-22C6-A57D99C9A4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3906751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4ABCC332-230D-DC18-734F-E6F18E77F9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8EAFFB-FDF4-E2B3-33B3-295327E0FBFF}"/>
              </a:ext>
            </a:extLst>
          </p:cNvPr>
          <p:cNvSpPr>
            <a:spLocks noGrp="1"/>
          </p:cNvSpPr>
          <p:nvPr>
            <p:ph type="ctrTitle"/>
          </p:nvPr>
        </p:nvSpPr>
        <p:spPr>
          <a:xfrm>
            <a:off x="1524000" y="64087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Stakeholders</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C2BECBC0-3422-D421-A4C4-7DB2BA77CC2D}"/>
              </a:ext>
            </a:extLst>
          </p:cNvPr>
          <p:cNvSpPr>
            <a:spLocks noGrp="1"/>
          </p:cNvSpPr>
          <p:nvPr>
            <p:ph type="subTitle" idx="1"/>
          </p:nvPr>
        </p:nvSpPr>
        <p:spPr>
          <a:xfrm>
            <a:off x="1524000" y="2129183"/>
            <a:ext cx="8980557" cy="3825460"/>
          </a:xfrm>
        </p:spPr>
        <p:txBody>
          <a:bodyPr>
            <a:noAutofit/>
          </a:bodyPr>
          <a:lstStyle/>
          <a:p>
            <a:pPr algn="l">
              <a:lnSpc>
                <a:spcPct val="120000"/>
              </a:lnSpc>
            </a:pPr>
            <a:r>
              <a:rPr lang="en-US" b="1" dirty="0">
                <a:solidFill>
                  <a:schemeClr val="accent6">
                    <a:lumMod val="50000"/>
                  </a:schemeClr>
                </a:solidFill>
              </a:rPr>
              <a:t>Who is the end-user of this data?</a:t>
            </a:r>
          </a:p>
          <a:p>
            <a:pPr algn="l">
              <a:lnSpc>
                <a:spcPct val="120000"/>
              </a:lnSpc>
            </a:pPr>
            <a:r>
              <a:rPr lang="en-US" dirty="0">
                <a:solidFill>
                  <a:schemeClr val="accent6">
                    <a:lumMod val="50000"/>
                  </a:schemeClr>
                </a:solidFill>
              </a:rPr>
              <a:t>Primary stakeholders include:</a:t>
            </a:r>
          </a:p>
          <a:p>
            <a:pPr marL="457200" indent="-457200" algn="l">
              <a:buFont typeface="Arial" panose="020B0604020202020204" pitchFamily="34" charset="0"/>
              <a:buChar char="•"/>
            </a:pPr>
            <a:r>
              <a:rPr lang="en-US" dirty="0">
                <a:solidFill>
                  <a:schemeClr val="accent6">
                    <a:lumMod val="50000"/>
                  </a:schemeClr>
                </a:solidFill>
              </a:rPr>
              <a:t>County, state, and local governments</a:t>
            </a:r>
          </a:p>
          <a:p>
            <a:pPr marL="457200" indent="-457200" algn="l">
              <a:buFont typeface="Arial" panose="020B0604020202020204" pitchFamily="34" charset="0"/>
              <a:buChar char="•"/>
            </a:pPr>
            <a:r>
              <a:rPr lang="en-US" dirty="0">
                <a:solidFill>
                  <a:schemeClr val="accent6">
                    <a:lumMod val="50000"/>
                  </a:schemeClr>
                </a:solidFill>
              </a:rPr>
              <a:t>Public health agencies</a:t>
            </a:r>
          </a:p>
          <a:p>
            <a:pPr marL="457200" indent="-457200" algn="l">
              <a:buFont typeface="Arial" panose="020B0604020202020204" pitchFamily="34" charset="0"/>
              <a:buChar char="•"/>
            </a:pPr>
            <a:r>
              <a:rPr lang="en-US" dirty="0">
                <a:solidFill>
                  <a:schemeClr val="accent6">
                    <a:lumMod val="50000"/>
                  </a:schemeClr>
                </a:solidFill>
              </a:rPr>
              <a:t>Urban and regional planning departments</a:t>
            </a:r>
          </a:p>
          <a:p>
            <a:pPr algn="l">
              <a:lnSpc>
                <a:spcPct val="120000"/>
              </a:lnSpc>
            </a:pPr>
            <a:r>
              <a:rPr lang="en-US" dirty="0">
                <a:solidFill>
                  <a:schemeClr val="accent6">
                    <a:lumMod val="50000"/>
                  </a:schemeClr>
                </a:solidFill>
              </a:rPr>
              <a:t>These stakeholders can use the findings to anticipate population changes and adapt policies related to healthcare, education, housing, and economic development.</a:t>
            </a:r>
          </a:p>
        </p:txBody>
      </p:sp>
      <p:pic>
        <p:nvPicPr>
          <p:cNvPr id="5" name="Picture 4">
            <a:extLst>
              <a:ext uri="{FF2B5EF4-FFF2-40B4-BE49-F238E27FC236}">
                <a16:creationId xmlns:a16="http://schemas.microsoft.com/office/drawing/2014/main" id="{847C7480-2590-71ED-AD90-5131BF9369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3328474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4D126472-B56E-D16A-CC91-996E608492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BF3152-0289-EB64-93CA-241BA0DFA570}"/>
              </a:ext>
            </a:extLst>
          </p:cNvPr>
          <p:cNvSpPr>
            <a:spLocks noGrp="1"/>
          </p:cNvSpPr>
          <p:nvPr>
            <p:ph type="ctrTitle"/>
          </p:nvPr>
        </p:nvSpPr>
        <p:spPr>
          <a:xfrm>
            <a:off x="1524000" y="64087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Success Metrics</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AB6CC378-CB16-A64D-CC87-BCCE60B87045}"/>
              </a:ext>
            </a:extLst>
          </p:cNvPr>
          <p:cNvSpPr>
            <a:spLocks noGrp="1"/>
          </p:cNvSpPr>
          <p:nvPr>
            <p:ph type="subTitle" idx="1"/>
          </p:nvPr>
        </p:nvSpPr>
        <p:spPr>
          <a:xfrm>
            <a:off x="1524000" y="2129183"/>
            <a:ext cx="8980557" cy="3825460"/>
          </a:xfrm>
        </p:spPr>
        <p:txBody>
          <a:bodyPr>
            <a:noAutofit/>
          </a:bodyPr>
          <a:lstStyle/>
          <a:p>
            <a:pPr algn="l">
              <a:lnSpc>
                <a:spcPct val="120000"/>
              </a:lnSpc>
            </a:pPr>
            <a:r>
              <a:rPr lang="en-US" sz="2800" b="1" dirty="0">
                <a:solidFill>
                  <a:schemeClr val="accent6">
                    <a:lumMod val="50000"/>
                  </a:schemeClr>
                </a:solidFill>
              </a:rPr>
              <a:t>How will we measure success (technical and business)?</a:t>
            </a:r>
          </a:p>
          <a:p>
            <a:pPr algn="l">
              <a:lnSpc>
                <a:spcPct val="120000"/>
              </a:lnSpc>
            </a:pPr>
            <a:r>
              <a:rPr lang="en-US" b="1" dirty="0">
                <a:solidFill>
                  <a:schemeClr val="accent6">
                    <a:lumMod val="50000"/>
                  </a:schemeClr>
                </a:solidFill>
              </a:rPr>
              <a:t>Technical Metrics</a:t>
            </a:r>
          </a:p>
          <a:p>
            <a:pPr marL="342900" indent="-342900" algn="l">
              <a:lnSpc>
                <a:spcPct val="120000"/>
              </a:lnSpc>
              <a:buFont typeface="Arial" panose="020B0604020202020204" pitchFamily="34" charset="0"/>
              <a:buChar char="•"/>
            </a:pPr>
            <a:r>
              <a:rPr lang="en-US" sz="2200" dirty="0">
                <a:solidFill>
                  <a:schemeClr val="accent6">
                    <a:lumMod val="50000"/>
                  </a:schemeClr>
                </a:solidFill>
              </a:rPr>
              <a:t>Data completeness and successful integration across census, natality, and political datasets</a:t>
            </a:r>
          </a:p>
          <a:p>
            <a:pPr marL="342900" indent="-342900" algn="l">
              <a:lnSpc>
                <a:spcPct val="120000"/>
              </a:lnSpc>
              <a:buFont typeface="Arial" panose="020B0604020202020204" pitchFamily="34" charset="0"/>
              <a:buChar char="•"/>
            </a:pPr>
            <a:r>
              <a:rPr lang="en-US" sz="2200" dirty="0">
                <a:solidFill>
                  <a:schemeClr val="accent6">
                    <a:lumMod val="50000"/>
                  </a:schemeClr>
                </a:solidFill>
              </a:rPr>
              <a:t>Predictive model performance (e.g., RMSE, MAE, or R² for birth rate forecasts)</a:t>
            </a:r>
          </a:p>
          <a:p>
            <a:pPr marL="342900" indent="-342900" algn="l">
              <a:lnSpc>
                <a:spcPct val="120000"/>
              </a:lnSpc>
              <a:buFont typeface="Arial" panose="020B0604020202020204" pitchFamily="34" charset="0"/>
              <a:buChar char="•"/>
            </a:pPr>
            <a:r>
              <a:rPr lang="en-US" sz="2200" dirty="0">
                <a:solidFill>
                  <a:schemeClr val="accent6">
                    <a:lumMod val="50000"/>
                  </a:schemeClr>
                </a:solidFill>
              </a:rPr>
              <a:t>Reproducibility of results using version-controlled code and documented workflows</a:t>
            </a:r>
            <a:endParaRPr lang="en-US" dirty="0">
              <a:solidFill>
                <a:schemeClr val="accent6">
                  <a:lumMod val="50000"/>
                </a:schemeClr>
              </a:solidFill>
            </a:endParaRPr>
          </a:p>
        </p:txBody>
      </p:sp>
      <p:pic>
        <p:nvPicPr>
          <p:cNvPr id="5" name="Picture 4">
            <a:extLst>
              <a:ext uri="{FF2B5EF4-FFF2-40B4-BE49-F238E27FC236}">
                <a16:creationId xmlns:a16="http://schemas.microsoft.com/office/drawing/2014/main" id="{2FBB58CD-700F-95A9-07BB-6B83E91371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2994787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AEE208FA-97C6-4CF9-4BAB-A903DEA8BE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EE53E9-B683-51BF-92F2-5EB7302EE62F}"/>
              </a:ext>
            </a:extLst>
          </p:cNvPr>
          <p:cNvSpPr>
            <a:spLocks noGrp="1"/>
          </p:cNvSpPr>
          <p:nvPr>
            <p:ph type="ctrTitle"/>
          </p:nvPr>
        </p:nvSpPr>
        <p:spPr>
          <a:xfrm>
            <a:off x="1524000" y="64087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Success Metrics</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6E73488E-2ACA-2539-48E8-AABF1AF1E6C0}"/>
              </a:ext>
            </a:extLst>
          </p:cNvPr>
          <p:cNvSpPr>
            <a:spLocks noGrp="1"/>
          </p:cNvSpPr>
          <p:nvPr>
            <p:ph type="subTitle" idx="1"/>
          </p:nvPr>
        </p:nvSpPr>
        <p:spPr>
          <a:xfrm>
            <a:off x="1524000" y="2129183"/>
            <a:ext cx="8980557" cy="3825460"/>
          </a:xfrm>
        </p:spPr>
        <p:txBody>
          <a:bodyPr>
            <a:noAutofit/>
          </a:bodyPr>
          <a:lstStyle/>
          <a:p>
            <a:pPr algn="l">
              <a:lnSpc>
                <a:spcPct val="120000"/>
              </a:lnSpc>
            </a:pPr>
            <a:r>
              <a:rPr lang="en-US" sz="2800" b="1" dirty="0">
                <a:solidFill>
                  <a:schemeClr val="accent6">
                    <a:lumMod val="50000"/>
                  </a:schemeClr>
                </a:solidFill>
              </a:rPr>
              <a:t>How will we measure success (technical and business)?</a:t>
            </a:r>
          </a:p>
          <a:p>
            <a:pPr algn="l">
              <a:lnSpc>
                <a:spcPct val="120000"/>
              </a:lnSpc>
            </a:pPr>
            <a:r>
              <a:rPr lang="en-US" b="1" dirty="0">
                <a:solidFill>
                  <a:schemeClr val="accent6">
                    <a:lumMod val="50000"/>
                  </a:schemeClr>
                </a:solidFill>
              </a:rPr>
              <a:t>Business / Impact Metrics</a:t>
            </a:r>
          </a:p>
          <a:p>
            <a:pPr marL="342900" indent="-342900" algn="l">
              <a:lnSpc>
                <a:spcPct val="120000"/>
              </a:lnSpc>
              <a:buFont typeface="Arial" panose="020B0604020202020204" pitchFamily="34" charset="0"/>
              <a:buChar char="•"/>
            </a:pPr>
            <a:r>
              <a:rPr lang="en-US" dirty="0">
                <a:solidFill>
                  <a:schemeClr val="accent6">
                    <a:lumMod val="50000"/>
                  </a:schemeClr>
                </a:solidFill>
              </a:rPr>
              <a:t>Clear identification of key variables influencing birth rates</a:t>
            </a:r>
          </a:p>
          <a:p>
            <a:pPr marL="342900" indent="-342900" algn="l">
              <a:lnSpc>
                <a:spcPct val="120000"/>
              </a:lnSpc>
              <a:buFont typeface="Arial" panose="020B0604020202020204" pitchFamily="34" charset="0"/>
              <a:buChar char="•"/>
            </a:pPr>
            <a:r>
              <a:rPr lang="en-US" dirty="0">
                <a:solidFill>
                  <a:schemeClr val="accent6">
                    <a:lumMod val="50000"/>
                  </a:schemeClr>
                </a:solidFill>
              </a:rPr>
              <a:t>Actionable insights that are interpretable by non-technical stakeholders</a:t>
            </a:r>
          </a:p>
          <a:p>
            <a:pPr marL="342900" indent="-342900" algn="l">
              <a:lnSpc>
                <a:spcPct val="120000"/>
              </a:lnSpc>
              <a:buFont typeface="Arial" panose="020B0604020202020204" pitchFamily="34" charset="0"/>
              <a:buChar char="•"/>
            </a:pPr>
            <a:r>
              <a:rPr lang="en-US" dirty="0">
                <a:solidFill>
                  <a:schemeClr val="accent6">
                    <a:lumMod val="50000"/>
                  </a:schemeClr>
                </a:solidFill>
              </a:rPr>
              <a:t>Ability to generate county- or state-level forecasts that inform planning decisions</a:t>
            </a:r>
          </a:p>
        </p:txBody>
      </p:sp>
      <p:pic>
        <p:nvPicPr>
          <p:cNvPr id="5" name="Picture 4">
            <a:extLst>
              <a:ext uri="{FF2B5EF4-FFF2-40B4-BE49-F238E27FC236}">
                <a16:creationId xmlns:a16="http://schemas.microsoft.com/office/drawing/2014/main" id="{0ABE34AD-3F1A-CBE2-B7C6-862F6CBE05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4190282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315621D2-270B-F547-1D54-322E12AF13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D40BCC-0B05-1148-C496-9FECBEE5F249}"/>
              </a:ext>
            </a:extLst>
          </p:cNvPr>
          <p:cNvSpPr>
            <a:spLocks noGrp="1"/>
          </p:cNvSpPr>
          <p:nvPr>
            <p:ph type="ctrTitle"/>
          </p:nvPr>
        </p:nvSpPr>
        <p:spPr>
          <a:xfrm>
            <a:off x="1524000" y="64087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EDA and Join Logic</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3DAAAE99-388E-845E-1530-5578F7F3C8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
        <p:nvSpPr>
          <p:cNvPr id="6" name="Subtitle 5">
            <a:extLst>
              <a:ext uri="{FF2B5EF4-FFF2-40B4-BE49-F238E27FC236}">
                <a16:creationId xmlns:a16="http://schemas.microsoft.com/office/drawing/2014/main" id="{E2D5159F-C4F5-C44F-32F9-544028B1CD79}"/>
              </a:ext>
            </a:extLst>
          </p:cNvPr>
          <p:cNvSpPr>
            <a:spLocks noGrp="1"/>
          </p:cNvSpPr>
          <p:nvPr>
            <p:ph type="subTitle" idx="1"/>
          </p:nvPr>
        </p:nvSpPr>
        <p:spPr/>
        <p:txBody>
          <a:bodyPr/>
          <a:lstStyle/>
          <a:p>
            <a:endParaRPr lang="en-US"/>
          </a:p>
        </p:txBody>
      </p:sp>
      <p:pic>
        <p:nvPicPr>
          <p:cNvPr id="8" name="Picture 7">
            <a:extLst>
              <a:ext uri="{FF2B5EF4-FFF2-40B4-BE49-F238E27FC236}">
                <a16:creationId xmlns:a16="http://schemas.microsoft.com/office/drawing/2014/main" id="{812A5561-5C73-D52A-3382-9DB86914D9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5317" y="1676306"/>
            <a:ext cx="7989344" cy="4783029"/>
          </a:xfrm>
          <a:prstGeom prst="rect">
            <a:avLst/>
          </a:prstGeom>
        </p:spPr>
      </p:pic>
    </p:spTree>
    <p:extLst>
      <p:ext uri="{BB962C8B-B14F-4D97-AF65-F5344CB8AC3E}">
        <p14:creationId xmlns:p14="http://schemas.microsoft.com/office/powerpoint/2010/main" val="4142184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A4E3EAFD-E771-CD29-C394-C9E5753808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25A144-FDB0-A8DF-4AEF-86CA07D7BAE1}"/>
              </a:ext>
            </a:extLst>
          </p:cNvPr>
          <p:cNvSpPr>
            <a:spLocks noGrp="1"/>
          </p:cNvSpPr>
          <p:nvPr>
            <p:ph type="ctrTitle"/>
          </p:nvPr>
        </p:nvSpPr>
        <p:spPr>
          <a:xfrm>
            <a:off x="1524000" y="64087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Models</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9B158FC8-3B97-2684-391B-C0CFCA4608C5}"/>
              </a:ext>
            </a:extLst>
          </p:cNvPr>
          <p:cNvSpPr>
            <a:spLocks noGrp="1"/>
          </p:cNvSpPr>
          <p:nvPr>
            <p:ph type="subTitle" idx="1"/>
          </p:nvPr>
        </p:nvSpPr>
        <p:spPr>
          <a:xfrm>
            <a:off x="1524000" y="2129183"/>
            <a:ext cx="8980557" cy="3825460"/>
          </a:xfrm>
        </p:spPr>
        <p:txBody>
          <a:bodyPr>
            <a:noAutofit/>
          </a:bodyPr>
          <a:lstStyle/>
          <a:p>
            <a:pPr algn="l">
              <a:lnSpc>
                <a:spcPct val="120000"/>
              </a:lnSpc>
            </a:pPr>
            <a:r>
              <a:rPr lang="en-US" sz="2800" b="1" dirty="0">
                <a:solidFill>
                  <a:schemeClr val="accent6">
                    <a:lumMod val="50000"/>
                  </a:schemeClr>
                </a:solidFill>
              </a:rPr>
              <a:t>Baseline Model</a:t>
            </a:r>
          </a:p>
          <a:p>
            <a:pPr algn="l">
              <a:lnSpc>
                <a:spcPct val="120000"/>
              </a:lnSpc>
            </a:pPr>
            <a:r>
              <a:rPr lang="en-US" dirty="0">
                <a:solidFill>
                  <a:schemeClr val="accent6">
                    <a:lumMod val="50000"/>
                  </a:schemeClr>
                </a:solidFill>
              </a:rPr>
              <a:t>Baseline model is a linear regression around the mean of the birth rate data, where each county is predicted to have a birth rate equal to the arithmetic mean of all counties.</a:t>
            </a:r>
          </a:p>
          <a:p>
            <a:pPr algn="l">
              <a:lnSpc>
                <a:spcPct val="120000"/>
              </a:lnSpc>
            </a:pPr>
            <a:r>
              <a:rPr lang="en-US" dirty="0">
                <a:solidFill>
                  <a:schemeClr val="accent6">
                    <a:lumMod val="50000"/>
                  </a:schemeClr>
                </a:solidFill>
              </a:rPr>
              <a:t>The baseline model produced:</a:t>
            </a:r>
          </a:p>
          <a:p>
            <a:pPr marL="342900" indent="-342900" algn="l">
              <a:lnSpc>
                <a:spcPct val="120000"/>
              </a:lnSpc>
              <a:buFont typeface="Arial" panose="020B0604020202020204" pitchFamily="34" charset="0"/>
              <a:buChar char="•"/>
            </a:pPr>
            <a:r>
              <a:rPr lang="en-US" dirty="0">
                <a:solidFill>
                  <a:schemeClr val="accent6">
                    <a:lumMod val="50000"/>
                  </a:schemeClr>
                </a:solidFill>
              </a:rPr>
              <a:t>RMSE: 1.8811</a:t>
            </a:r>
          </a:p>
          <a:p>
            <a:pPr marL="342900" indent="-342900" algn="l">
              <a:lnSpc>
                <a:spcPct val="120000"/>
              </a:lnSpc>
              <a:buFont typeface="Arial" panose="020B0604020202020204" pitchFamily="34" charset="0"/>
              <a:buChar char="•"/>
            </a:pPr>
            <a:r>
              <a:rPr lang="en-US" dirty="0">
                <a:solidFill>
                  <a:schemeClr val="accent6">
                    <a:lumMod val="50000"/>
                  </a:schemeClr>
                </a:solidFill>
              </a:rPr>
              <a:t>MAE: 1.4564</a:t>
            </a:r>
          </a:p>
        </p:txBody>
      </p:sp>
      <p:pic>
        <p:nvPicPr>
          <p:cNvPr id="5" name="Picture 4">
            <a:extLst>
              <a:ext uri="{FF2B5EF4-FFF2-40B4-BE49-F238E27FC236}">
                <a16:creationId xmlns:a16="http://schemas.microsoft.com/office/drawing/2014/main" id="{572C00F9-D2FB-6577-FA7A-EF10B42364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960149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7634DF31-9B27-C51F-BD93-5BF5FFFC45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65A2A8-4E9C-62A6-ED31-D9F49832CA7B}"/>
              </a:ext>
            </a:extLst>
          </p:cNvPr>
          <p:cNvSpPr>
            <a:spLocks noGrp="1"/>
          </p:cNvSpPr>
          <p:nvPr>
            <p:ph type="ctrTitle"/>
          </p:nvPr>
        </p:nvSpPr>
        <p:spPr>
          <a:xfrm>
            <a:off x="1524000" y="64087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Models</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D0770BD7-870D-DF8D-3665-59094BF6D580}"/>
              </a:ext>
            </a:extLst>
          </p:cNvPr>
          <p:cNvSpPr>
            <a:spLocks noGrp="1"/>
          </p:cNvSpPr>
          <p:nvPr>
            <p:ph type="subTitle" idx="1"/>
          </p:nvPr>
        </p:nvSpPr>
        <p:spPr>
          <a:xfrm>
            <a:off x="1524000" y="2129183"/>
            <a:ext cx="8980557" cy="3825460"/>
          </a:xfrm>
        </p:spPr>
        <p:txBody>
          <a:bodyPr>
            <a:noAutofit/>
          </a:bodyPr>
          <a:lstStyle/>
          <a:p>
            <a:pPr algn="l">
              <a:lnSpc>
                <a:spcPct val="120000"/>
              </a:lnSpc>
            </a:pPr>
            <a:r>
              <a:rPr lang="en-US" sz="2800" b="1" dirty="0">
                <a:solidFill>
                  <a:schemeClr val="accent6">
                    <a:lumMod val="50000"/>
                  </a:schemeClr>
                </a:solidFill>
              </a:rPr>
              <a:t>Social-Political Demographic Model</a:t>
            </a:r>
          </a:p>
          <a:p>
            <a:pPr algn="l">
              <a:lnSpc>
                <a:spcPct val="120000"/>
              </a:lnSpc>
            </a:pPr>
            <a:r>
              <a:rPr lang="en-US" dirty="0">
                <a:solidFill>
                  <a:schemeClr val="accent6">
                    <a:lumMod val="50000"/>
                  </a:schemeClr>
                </a:solidFill>
              </a:rPr>
              <a:t>Our champion model is based off the</a:t>
            </a:r>
            <a:br>
              <a:rPr lang="en-US" dirty="0">
                <a:solidFill>
                  <a:schemeClr val="accent6">
                    <a:lumMod val="50000"/>
                  </a:schemeClr>
                </a:solidFill>
              </a:rPr>
            </a:br>
            <a:r>
              <a:rPr lang="en-US" dirty="0">
                <a:solidFill>
                  <a:schemeClr val="accent6">
                    <a:lumMod val="50000"/>
                  </a:schemeClr>
                </a:solidFill>
              </a:rPr>
              <a:t>mean birthrate growth within a</a:t>
            </a:r>
            <a:br>
              <a:rPr lang="en-US" dirty="0">
                <a:solidFill>
                  <a:schemeClr val="accent6">
                    <a:lumMod val="50000"/>
                  </a:schemeClr>
                </a:solidFill>
              </a:rPr>
            </a:br>
            <a:r>
              <a:rPr lang="en-US" dirty="0">
                <a:solidFill>
                  <a:schemeClr val="accent6">
                    <a:lumMod val="50000"/>
                  </a:schemeClr>
                </a:solidFill>
              </a:rPr>
              <a:t>social-political demographic group.</a:t>
            </a:r>
          </a:p>
          <a:p>
            <a:pPr algn="l">
              <a:lnSpc>
                <a:spcPct val="120000"/>
              </a:lnSpc>
            </a:pPr>
            <a:r>
              <a:rPr lang="en-US" dirty="0">
                <a:solidFill>
                  <a:schemeClr val="accent6">
                    <a:lumMod val="50000"/>
                  </a:schemeClr>
                </a:solidFill>
              </a:rPr>
              <a:t>The champion model produced:</a:t>
            </a:r>
          </a:p>
          <a:p>
            <a:pPr marL="342900" indent="-342900" algn="l">
              <a:lnSpc>
                <a:spcPct val="120000"/>
              </a:lnSpc>
              <a:buFont typeface="Arial" panose="020B0604020202020204" pitchFamily="34" charset="0"/>
              <a:buChar char="•"/>
            </a:pPr>
            <a:r>
              <a:rPr lang="en-US" dirty="0">
                <a:solidFill>
                  <a:schemeClr val="accent6">
                    <a:lumMod val="50000"/>
                  </a:schemeClr>
                </a:solidFill>
              </a:rPr>
              <a:t>RMSE: 0.7950</a:t>
            </a:r>
          </a:p>
          <a:p>
            <a:pPr marL="342900" indent="-342900" algn="l">
              <a:lnSpc>
                <a:spcPct val="120000"/>
              </a:lnSpc>
              <a:buFont typeface="Arial" panose="020B0604020202020204" pitchFamily="34" charset="0"/>
              <a:buChar char="•"/>
            </a:pPr>
            <a:r>
              <a:rPr lang="en-US" dirty="0">
                <a:solidFill>
                  <a:schemeClr val="accent6">
                    <a:lumMod val="50000"/>
                  </a:schemeClr>
                </a:solidFill>
              </a:rPr>
              <a:t>MAE: 0.6132</a:t>
            </a:r>
          </a:p>
        </p:txBody>
      </p:sp>
      <p:pic>
        <p:nvPicPr>
          <p:cNvPr id="5" name="Picture 4">
            <a:extLst>
              <a:ext uri="{FF2B5EF4-FFF2-40B4-BE49-F238E27FC236}">
                <a16:creationId xmlns:a16="http://schemas.microsoft.com/office/drawing/2014/main" id="{3EBA9C41-90EA-4D24-7063-DF160C77E4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pic>
        <p:nvPicPr>
          <p:cNvPr id="6" name="Picture 5">
            <a:extLst>
              <a:ext uri="{FF2B5EF4-FFF2-40B4-BE49-F238E27FC236}">
                <a16:creationId xmlns:a16="http://schemas.microsoft.com/office/drawing/2014/main" id="{CDC157B7-8816-8E52-F2AB-E0C219A196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9166" y="2765737"/>
            <a:ext cx="4538921" cy="3535671"/>
          </a:xfrm>
          <a:prstGeom prst="rect">
            <a:avLst/>
          </a:prstGeom>
        </p:spPr>
      </p:pic>
    </p:spTree>
    <p:extLst>
      <p:ext uri="{BB962C8B-B14F-4D97-AF65-F5344CB8AC3E}">
        <p14:creationId xmlns:p14="http://schemas.microsoft.com/office/powerpoint/2010/main" val="2813553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9A857690-6868-076C-1E53-B23AF329E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681644-D3B9-92F8-C409-B185DA8CE0DA}"/>
              </a:ext>
            </a:extLst>
          </p:cNvPr>
          <p:cNvSpPr>
            <a:spLocks noGrp="1"/>
          </p:cNvSpPr>
          <p:nvPr>
            <p:ph type="ctrTitle"/>
          </p:nvPr>
        </p:nvSpPr>
        <p:spPr>
          <a:xfrm>
            <a:off x="1524000" y="64087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Demonstration</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0D685764-FA63-CEA0-9A1E-49DF8C837409}"/>
              </a:ext>
            </a:extLst>
          </p:cNvPr>
          <p:cNvSpPr>
            <a:spLocks noGrp="1"/>
          </p:cNvSpPr>
          <p:nvPr>
            <p:ph type="subTitle" idx="1"/>
          </p:nvPr>
        </p:nvSpPr>
        <p:spPr>
          <a:xfrm>
            <a:off x="1524000" y="2129183"/>
            <a:ext cx="8980557" cy="3825460"/>
          </a:xfrm>
        </p:spPr>
        <p:txBody>
          <a:bodyPr>
            <a:noAutofit/>
          </a:bodyPr>
          <a:lstStyle/>
          <a:p>
            <a:pPr algn="l">
              <a:lnSpc>
                <a:spcPct val="120000"/>
              </a:lnSpc>
            </a:pPr>
            <a:r>
              <a:rPr lang="en-US" sz="2800" b="1" dirty="0">
                <a:solidFill>
                  <a:schemeClr val="accent6">
                    <a:lumMod val="50000"/>
                  </a:schemeClr>
                </a:solidFill>
              </a:rPr>
              <a:t>A live walkthrough of our app.py functioning locally</a:t>
            </a:r>
            <a:endParaRPr lang="en-US" dirty="0">
              <a:solidFill>
                <a:schemeClr val="accent6">
                  <a:lumMod val="50000"/>
                </a:schemeClr>
              </a:solidFill>
            </a:endParaRPr>
          </a:p>
        </p:txBody>
      </p:sp>
      <p:pic>
        <p:nvPicPr>
          <p:cNvPr id="5" name="Picture 4">
            <a:extLst>
              <a:ext uri="{FF2B5EF4-FFF2-40B4-BE49-F238E27FC236}">
                <a16:creationId xmlns:a16="http://schemas.microsoft.com/office/drawing/2014/main" id="{E6A7302E-6DCB-4DC8-EFC3-0B8D65A75A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41644901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E3048DE-EA5A-3BDF-8E49-250168192F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55DE62-8303-7A35-B7F9-38E0529C9CAB}"/>
              </a:ext>
            </a:extLst>
          </p:cNvPr>
          <p:cNvSpPr>
            <a:spLocks noGrp="1"/>
          </p:cNvSpPr>
          <p:nvPr>
            <p:ph type="ctrTitle"/>
          </p:nvPr>
        </p:nvSpPr>
        <p:spPr>
          <a:xfrm>
            <a:off x="1524000" y="64087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Conclusions</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813F8F26-0E3C-8947-80BE-7C11332A0987}"/>
              </a:ext>
            </a:extLst>
          </p:cNvPr>
          <p:cNvSpPr>
            <a:spLocks noGrp="1"/>
          </p:cNvSpPr>
          <p:nvPr>
            <p:ph type="subTitle" idx="1"/>
          </p:nvPr>
        </p:nvSpPr>
        <p:spPr>
          <a:xfrm>
            <a:off x="1524000" y="2129183"/>
            <a:ext cx="8980557" cy="3825460"/>
          </a:xfrm>
        </p:spPr>
        <p:txBody>
          <a:bodyPr>
            <a:noAutofit/>
          </a:bodyPr>
          <a:lstStyle/>
          <a:p>
            <a:pPr algn="l">
              <a:lnSpc>
                <a:spcPct val="120000"/>
              </a:lnSpc>
            </a:pPr>
            <a:r>
              <a:rPr lang="en-US" sz="2800" b="1" dirty="0">
                <a:solidFill>
                  <a:schemeClr val="accent6">
                    <a:lumMod val="50000"/>
                  </a:schemeClr>
                </a:solidFill>
              </a:rPr>
              <a:t>This walkthrough demonstrates our ability to predict birthrates on a county level, and to provide stakeholders with the data necessary to enact better-informed policies.</a:t>
            </a:r>
            <a:endParaRPr lang="en-US" dirty="0">
              <a:solidFill>
                <a:schemeClr val="accent6">
                  <a:lumMod val="50000"/>
                </a:schemeClr>
              </a:solidFill>
            </a:endParaRPr>
          </a:p>
        </p:txBody>
      </p:sp>
      <p:pic>
        <p:nvPicPr>
          <p:cNvPr id="5" name="Picture 4">
            <a:extLst>
              <a:ext uri="{FF2B5EF4-FFF2-40B4-BE49-F238E27FC236}">
                <a16:creationId xmlns:a16="http://schemas.microsoft.com/office/drawing/2014/main" id="{ECD452B7-E1CD-523D-A92D-C936FE2718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14765021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F2119F60-9B3A-A819-1823-60424B8925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1F9B4A-FA0F-D1EE-6920-FD642A29A998}"/>
              </a:ext>
            </a:extLst>
          </p:cNvPr>
          <p:cNvSpPr>
            <a:spLocks noGrp="1"/>
          </p:cNvSpPr>
          <p:nvPr>
            <p:ph type="ctrTitle"/>
          </p:nvPr>
        </p:nvSpPr>
        <p:spPr>
          <a:xfrm>
            <a:off x="1524000" y="64087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Questions / Comments</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2F3B4AD1-531B-D573-A43A-A3A95D9B3B74}"/>
              </a:ext>
            </a:extLst>
          </p:cNvPr>
          <p:cNvSpPr>
            <a:spLocks noGrp="1"/>
          </p:cNvSpPr>
          <p:nvPr>
            <p:ph type="subTitle" idx="1"/>
          </p:nvPr>
        </p:nvSpPr>
        <p:spPr>
          <a:xfrm>
            <a:off x="1524000" y="2129183"/>
            <a:ext cx="8980557" cy="3825460"/>
          </a:xfrm>
        </p:spPr>
        <p:txBody>
          <a:bodyPr>
            <a:noAutofit/>
          </a:bodyPr>
          <a:lstStyle/>
          <a:p>
            <a:pPr algn="l">
              <a:lnSpc>
                <a:spcPct val="120000"/>
              </a:lnSpc>
            </a:pPr>
            <a:endParaRPr lang="en-US" dirty="0">
              <a:solidFill>
                <a:schemeClr val="accent6">
                  <a:lumMod val="50000"/>
                </a:schemeClr>
              </a:solidFill>
            </a:endParaRPr>
          </a:p>
        </p:txBody>
      </p:sp>
      <p:pic>
        <p:nvPicPr>
          <p:cNvPr id="5" name="Picture 4">
            <a:extLst>
              <a:ext uri="{FF2B5EF4-FFF2-40B4-BE49-F238E27FC236}">
                <a16:creationId xmlns:a16="http://schemas.microsoft.com/office/drawing/2014/main" id="{121E2DF0-D62A-0D7E-E06E-EE815631CE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58600360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2013 - 2022 Theme</Template>
  <TotalTime>36</TotalTime>
  <Words>421</Words>
  <Application>Microsoft Office PowerPoint</Application>
  <PresentationFormat>Widescreen</PresentationFormat>
  <Paragraphs>45</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Birth Rate Forecasting and Policy Insights</vt:lpstr>
      <vt:lpstr>Project Overview</vt:lpstr>
      <vt:lpstr>Business Question</vt:lpstr>
      <vt:lpstr>Stakeholders</vt:lpstr>
      <vt:lpstr>Success Metrics</vt:lpstr>
      <vt:lpstr>Success Metrics</vt:lpstr>
      <vt:lpstr>EDA and Join Logic</vt:lpstr>
      <vt:lpstr>Models</vt:lpstr>
      <vt:lpstr>Models</vt:lpstr>
      <vt:lpstr>Demonstration</vt:lpstr>
      <vt:lpstr>Conclusions</vt:lpstr>
      <vt:lpstr>Questions / Comments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Dave Hulme</dc:creator>
  <cp:lastModifiedBy>Dave Hulme</cp:lastModifiedBy>
  <cp:revision>2</cp:revision>
  <dcterms:created xsi:type="dcterms:W3CDTF">2026-03-14T22:43:24Z</dcterms:created>
  <dcterms:modified xsi:type="dcterms:W3CDTF">2026-03-14T23:20:20Z</dcterms:modified>
</cp:coreProperties>
</file>