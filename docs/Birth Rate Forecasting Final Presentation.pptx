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1" r:id="rId4"/>
    <p:sldId id="258" r:id="rId5"/>
    <p:sldId id="272" r:id="rId6"/>
    <p:sldId id="273" r:id="rId7"/>
    <p:sldId id="274" r:id="rId8"/>
    <p:sldId id="285" r:id="rId9"/>
    <p:sldId id="286" r:id="rId10"/>
    <p:sldId id="287" r:id="rId11"/>
    <p:sldId id="263" r:id="rId12"/>
    <p:sldId id="275" r:id="rId13"/>
    <p:sldId id="277" r:id="rId14"/>
    <p:sldId id="282" r:id="rId15"/>
    <p:sldId id="288" r:id="rId16"/>
    <p:sldId id="290" r:id="rId17"/>
    <p:sldId id="281" r:id="rId18"/>
    <p:sldId id="265" r:id="rId19"/>
    <p:sldId id="280" r:id="rId20"/>
    <p:sldId id="283" r:id="rId21"/>
    <p:sldId id="289" r:id="rId22"/>
    <p:sldId id="26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57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p:cViewPr varScale="1">
        <p:scale>
          <a:sx n="157" d="100"/>
          <a:sy n="157" d="100"/>
        </p:scale>
        <p:origin x="288" y="76"/>
      </p:cViewPr>
      <p:guideLst>
        <p:guide orient="horz" pos="2160"/>
        <p:guide pos="3840"/>
      </p:guideLst>
    </p:cSldViewPr>
  </p:slideViewPr>
  <p:notesTextViewPr>
    <p:cViewPr>
      <p:scale>
        <a:sx n="1" d="1"/>
        <a:sy n="1" d="1"/>
      </p:scale>
      <p:origin x="0" y="0"/>
    </p:cViewPr>
  </p:notesTextViewPr>
  <p:gridSpacing cx="91439" cy="91439"/>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11307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95515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3245CCC-2700-400C-AA9A-1249B4744E2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7537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245CCC-2700-400C-AA9A-1249B4744E2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95151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245CCC-2700-400C-AA9A-1249B4744E29}"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415895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245CCC-2700-400C-AA9A-1249B4744E29}"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594580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45CCC-2700-400C-AA9A-1249B4744E29}"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394837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3771293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3245CCC-2700-400C-AA9A-1249B4744E29}"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1862516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284568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245CCC-2700-400C-AA9A-1249B4744E29}"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3E5252-E850-4276-87A5-C18E34BDC7B4}" type="slidenum">
              <a:rPr lang="en-US" smtClean="0"/>
              <a:t>‹#›</a:t>
            </a:fld>
            <a:endParaRPr lang="en-US"/>
          </a:p>
        </p:txBody>
      </p:sp>
    </p:spTree>
    <p:extLst>
      <p:ext uri="{BB962C8B-B14F-4D97-AF65-F5344CB8AC3E}">
        <p14:creationId xmlns:p14="http://schemas.microsoft.com/office/powerpoint/2010/main" val="745487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245CCC-2700-400C-AA9A-1249B4744E29}"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E5252-E850-4276-87A5-C18E34BDC7B4}" type="slidenum">
              <a:rPr lang="en-US" smtClean="0"/>
              <a:t>‹#›</a:t>
            </a:fld>
            <a:endParaRPr lang="en-US"/>
          </a:p>
        </p:txBody>
      </p:sp>
    </p:spTree>
    <p:extLst>
      <p:ext uri="{BB962C8B-B14F-4D97-AF65-F5344CB8AC3E}">
        <p14:creationId xmlns:p14="http://schemas.microsoft.com/office/powerpoint/2010/main" val="183351109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CA9B3-7E61-76B0-470C-EB6CADCBF16D}"/>
              </a:ext>
            </a:extLst>
          </p:cNvPr>
          <p:cNvSpPr>
            <a:spLocks noGrp="1"/>
          </p:cNvSpPr>
          <p:nvPr>
            <p:ph type="ctrTitle"/>
          </p:nvPr>
        </p:nvSpPr>
        <p:spPr>
          <a:xfrm>
            <a:off x="1524000" y="164384"/>
            <a:ext cx="9144000" cy="2387600"/>
          </a:xfrm>
        </p:spPr>
        <p:txBody>
          <a:bodyPr>
            <a:noAutofit/>
          </a:bodyPr>
          <a:lstStyle/>
          <a:p>
            <a:r>
              <a:rPr lang="en-US" sz="7200" b="1" dirty="0">
                <a:solidFill>
                  <a:schemeClr val="bg1">
                    <a:lumMod val="65000"/>
                    <a:lumOff val="35000"/>
                  </a:schemeClr>
                </a:solidFill>
                <a:latin typeface="Calibri" panose="020F0502020204030204" pitchFamily="34" charset="0"/>
                <a:cs typeface="Calibri" panose="020F0502020204030204" pitchFamily="34" charset="0"/>
              </a:rPr>
              <a:t>Birth Rate Forecasting</a:t>
            </a:r>
            <a:br>
              <a:rPr lang="en-US" sz="7200" b="1" dirty="0">
                <a:solidFill>
                  <a:schemeClr val="bg1">
                    <a:lumMod val="65000"/>
                    <a:lumOff val="35000"/>
                  </a:schemeClr>
                </a:solidFill>
                <a:latin typeface="Calibri" panose="020F0502020204030204" pitchFamily="34" charset="0"/>
                <a:cs typeface="Calibri" panose="020F0502020204030204" pitchFamily="34" charset="0"/>
              </a:rPr>
            </a:br>
            <a:r>
              <a:rPr lang="en-US" sz="7200" b="1" dirty="0">
                <a:solidFill>
                  <a:schemeClr val="bg1">
                    <a:lumMod val="65000"/>
                    <a:lumOff val="35000"/>
                  </a:schemeClr>
                </a:solidFill>
                <a:latin typeface="Calibri" panose="020F0502020204030204" pitchFamily="34" charset="0"/>
                <a:cs typeface="Calibri" panose="020F0502020204030204" pitchFamily="34" charset="0"/>
              </a:rPr>
              <a:t>and Policy Insights</a:t>
            </a:r>
            <a:endParaRPr lang="en-US" sz="7200"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E17CBFF-40F5-D130-0507-9E05419CEAAB}"/>
              </a:ext>
            </a:extLst>
          </p:cNvPr>
          <p:cNvSpPr>
            <a:spLocks noGrp="1"/>
          </p:cNvSpPr>
          <p:nvPr>
            <p:ph type="subTitle" idx="1"/>
          </p:nvPr>
        </p:nvSpPr>
        <p:spPr>
          <a:xfrm>
            <a:off x="696686" y="2989696"/>
            <a:ext cx="4389912" cy="1655762"/>
          </a:xfrm>
        </p:spPr>
        <p:txBody>
          <a:bodyPr>
            <a:noAutofit/>
          </a:bodyPr>
          <a:lstStyle/>
          <a:p>
            <a:r>
              <a:rPr lang="en-US" sz="4400" b="1" dirty="0">
                <a:solidFill>
                  <a:schemeClr val="accent6">
                    <a:lumMod val="50000"/>
                  </a:schemeClr>
                </a:solidFill>
              </a:rPr>
              <a:t>Team Grapefruit</a:t>
            </a:r>
            <a:br>
              <a:rPr lang="en-US" sz="3200" b="1" dirty="0">
                <a:solidFill>
                  <a:schemeClr val="accent6">
                    <a:lumMod val="50000"/>
                  </a:schemeClr>
                </a:solidFill>
              </a:rPr>
            </a:br>
            <a:r>
              <a:rPr lang="en-US" sz="3200" b="1" dirty="0">
                <a:solidFill>
                  <a:schemeClr val="accent6">
                    <a:lumMod val="50000"/>
                  </a:schemeClr>
                </a:solidFill>
              </a:rPr>
              <a:t>Jacob Brown</a:t>
            </a:r>
            <a:br>
              <a:rPr lang="en-US" sz="3200" b="1" dirty="0">
                <a:solidFill>
                  <a:schemeClr val="accent6">
                    <a:lumMod val="50000"/>
                  </a:schemeClr>
                </a:solidFill>
              </a:rPr>
            </a:br>
            <a:r>
              <a:rPr lang="en-US" sz="3200" b="1" dirty="0">
                <a:solidFill>
                  <a:schemeClr val="accent6">
                    <a:lumMod val="50000"/>
                  </a:schemeClr>
                </a:solidFill>
              </a:rPr>
              <a:t>Connor White</a:t>
            </a:r>
            <a:br>
              <a:rPr lang="en-US" sz="3200" b="1" dirty="0">
                <a:solidFill>
                  <a:schemeClr val="accent6">
                    <a:lumMod val="50000"/>
                  </a:schemeClr>
                </a:solidFill>
              </a:rPr>
            </a:br>
            <a:r>
              <a:rPr lang="en-US" sz="3200" b="1" dirty="0">
                <a:solidFill>
                  <a:schemeClr val="accent6">
                    <a:lumMod val="50000"/>
                  </a:schemeClr>
                </a:solidFill>
              </a:rPr>
              <a:t>Dave Hulme</a:t>
            </a:r>
          </a:p>
          <a:p>
            <a:r>
              <a:rPr lang="en-US" sz="3200" b="1" dirty="0">
                <a:solidFill>
                  <a:schemeClr val="accent6">
                    <a:lumMod val="50000"/>
                  </a:schemeClr>
                </a:solidFill>
              </a:rPr>
              <a:t>Weber State University</a:t>
            </a:r>
            <a:br>
              <a:rPr lang="en-US" sz="3200" b="1" dirty="0">
                <a:solidFill>
                  <a:schemeClr val="accent6">
                    <a:lumMod val="50000"/>
                  </a:schemeClr>
                </a:solidFill>
              </a:rPr>
            </a:br>
            <a:r>
              <a:rPr lang="en-US" sz="3200" b="1" dirty="0">
                <a:solidFill>
                  <a:schemeClr val="accent6">
                    <a:lumMod val="50000"/>
                  </a:schemeClr>
                </a:solidFill>
              </a:rPr>
              <a:t>CS 6580 – Dylan Zwick</a:t>
            </a:r>
          </a:p>
        </p:txBody>
      </p:sp>
      <p:pic>
        <p:nvPicPr>
          <p:cNvPr id="5" name="Picture 4">
            <a:extLst>
              <a:ext uri="{FF2B5EF4-FFF2-40B4-BE49-F238E27FC236}">
                <a16:creationId xmlns:a16="http://schemas.microsoft.com/office/drawing/2014/main" id="{8CC87C92-428F-0D79-3A76-90270F4B8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10" name="Picture 9">
            <a:extLst>
              <a:ext uri="{FF2B5EF4-FFF2-40B4-BE49-F238E27FC236}">
                <a16:creationId xmlns:a16="http://schemas.microsoft.com/office/drawing/2014/main" id="{A5B4A41E-AF01-4845-7413-50DDF4F0A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5574" y="2881745"/>
            <a:ext cx="5390762" cy="3527427"/>
          </a:xfrm>
          <a:prstGeom prst="rect">
            <a:avLst/>
          </a:prstGeom>
        </p:spPr>
      </p:pic>
    </p:spTree>
    <p:extLst>
      <p:ext uri="{BB962C8B-B14F-4D97-AF65-F5344CB8AC3E}">
        <p14:creationId xmlns:p14="http://schemas.microsoft.com/office/powerpoint/2010/main" val="294598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32AA809-C5B7-2BD5-64D5-D434AEDAF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806DD-9F69-D9B6-E35D-9DDADDDDD881}"/>
              </a:ext>
            </a:extLst>
          </p:cNvPr>
          <p:cNvSpPr>
            <a:spLocks noGrp="1"/>
          </p:cNvSpPr>
          <p:nvPr>
            <p:ph type="ctrTitle"/>
          </p:nvPr>
        </p:nvSpPr>
        <p:spPr>
          <a:xfrm>
            <a:off x="1360557"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Executive Summary</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CCBFD09-2932-CB76-12BF-B668ED5A2B00}"/>
              </a:ext>
            </a:extLst>
          </p:cNvPr>
          <p:cNvSpPr>
            <a:spLocks noGrp="1"/>
          </p:cNvSpPr>
          <p:nvPr>
            <p:ph type="subTitle" idx="1"/>
          </p:nvPr>
        </p:nvSpPr>
        <p:spPr>
          <a:xfrm>
            <a:off x="1360557" y="1783098"/>
            <a:ext cx="8980557" cy="3825460"/>
          </a:xfrm>
        </p:spPr>
        <p:txBody>
          <a:bodyPr>
            <a:noAutofit/>
          </a:bodyPr>
          <a:lstStyle/>
          <a:p>
            <a:pPr algn="l">
              <a:lnSpc>
                <a:spcPct val="120000"/>
              </a:lnSpc>
            </a:pPr>
            <a:r>
              <a:rPr lang="en-US" sz="2800" dirty="0">
                <a:solidFill>
                  <a:schemeClr val="accent6">
                    <a:lumMod val="50000"/>
                  </a:schemeClr>
                </a:solidFill>
              </a:rPr>
              <a:t>All over the world, developed nations are experiencing a birth rate crisis that threatens to destabilize and permanently alter their social and economic landscape. While nations such as South Korea, Japan and China have historically tended to receive the most press coverage, the situation is now beginning to be recognized as a serious problem in the United States as well.</a:t>
            </a:r>
          </a:p>
        </p:txBody>
      </p:sp>
      <p:pic>
        <p:nvPicPr>
          <p:cNvPr id="5" name="Picture 4">
            <a:extLst>
              <a:ext uri="{FF2B5EF4-FFF2-40B4-BE49-F238E27FC236}">
                <a16:creationId xmlns:a16="http://schemas.microsoft.com/office/drawing/2014/main" id="{EAC9E7FF-84EB-DFA9-EFAE-8E37F16FF9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847526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96E0817-501D-DBE7-441E-65B2860F5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DAF56-ADDE-9CEB-B6F5-DBC5E4B3DC0A}"/>
              </a:ext>
            </a:extLst>
          </p:cNvPr>
          <p:cNvSpPr>
            <a:spLocks noGrp="1"/>
          </p:cNvSpPr>
          <p:nvPr>
            <p:ph type="ctrTitle"/>
          </p:nvPr>
        </p:nvSpPr>
        <p:spPr>
          <a:xfrm>
            <a:off x="1360557"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Executive Summary</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8257BBC-36EA-E006-4E8F-3F264E77CB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16A31DD3-433D-02D2-5EB5-74964F5AE12A}"/>
              </a:ext>
            </a:extLst>
          </p:cNvPr>
          <p:cNvSpPr>
            <a:spLocks noGrp="1"/>
          </p:cNvSpPr>
          <p:nvPr>
            <p:ph type="subTitle" idx="1"/>
          </p:nvPr>
        </p:nvSpPr>
        <p:spPr>
          <a:xfrm>
            <a:off x="1524000" y="6070891"/>
            <a:ext cx="9144000" cy="284157"/>
          </a:xfrm>
        </p:spPr>
        <p:txBody>
          <a:bodyPr>
            <a:normAutofit fontScale="62500" lnSpcReduction="20000"/>
          </a:bodyPr>
          <a:lstStyle/>
          <a:p>
            <a:r>
              <a:rPr lang="en-US" dirty="0">
                <a:solidFill>
                  <a:srgbClr val="385723"/>
                </a:solidFill>
              </a:rPr>
              <a:t>Source: Visual Capitalist, “Mapped: Every Country by Total Fertility Rate” (2025)</a:t>
            </a:r>
          </a:p>
        </p:txBody>
      </p:sp>
      <p:pic>
        <p:nvPicPr>
          <p:cNvPr id="8" name="Picture 7">
            <a:extLst>
              <a:ext uri="{FF2B5EF4-FFF2-40B4-BE49-F238E27FC236}">
                <a16:creationId xmlns:a16="http://schemas.microsoft.com/office/drawing/2014/main" id="{40D1DC66-DEAE-E654-8693-EAEEDC5260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9879" y="1594060"/>
            <a:ext cx="7161687" cy="4303030"/>
          </a:xfrm>
          <a:prstGeom prst="rect">
            <a:avLst/>
          </a:prstGeom>
        </p:spPr>
      </p:pic>
    </p:spTree>
    <p:extLst>
      <p:ext uri="{BB962C8B-B14F-4D97-AF65-F5344CB8AC3E}">
        <p14:creationId xmlns:p14="http://schemas.microsoft.com/office/powerpoint/2010/main" val="3536030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7A37239-A0BA-4FC9-CF52-158E04CE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EDE1EC-0BC2-8F5B-1E89-B79F72F535B4}"/>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Executive Summary</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4B3E9EA-6E1E-1EED-6AEB-8C2B0B5BC2A2}"/>
              </a:ext>
            </a:extLst>
          </p:cNvPr>
          <p:cNvSpPr>
            <a:spLocks noGrp="1"/>
          </p:cNvSpPr>
          <p:nvPr>
            <p:ph type="subTitle" idx="1"/>
          </p:nvPr>
        </p:nvSpPr>
        <p:spPr>
          <a:xfrm>
            <a:off x="1352426" y="1783098"/>
            <a:ext cx="9514947" cy="3825460"/>
          </a:xfrm>
        </p:spPr>
        <p:txBody>
          <a:bodyPr>
            <a:noAutofit/>
          </a:bodyPr>
          <a:lstStyle/>
          <a:p>
            <a:pPr algn="l">
              <a:lnSpc>
                <a:spcPct val="120000"/>
              </a:lnSpc>
            </a:pPr>
            <a:r>
              <a:rPr lang="en-US" sz="2800" dirty="0">
                <a:solidFill>
                  <a:schemeClr val="accent6">
                    <a:lumMod val="50000"/>
                  </a:schemeClr>
                </a:solidFill>
              </a:rPr>
              <a:t>This project analyzes U.S. census, presidential election, and natality data to identify socioeconomic and political factors that influence birth rates. Using historical data from 2010 and 2020, we have modeled how these variables affect birth rates over time and generated predictions for 2030. The results, available in a dynamic, interactive web model are intended to support data-informed decision-making for planning and policy development in both the public and private sector.</a:t>
            </a:r>
          </a:p>
        </p:txBody>
      </p:sp>
      <p:pic>
        <p:nvPicPr>
          <p:cNvPr id="5" name="Picture 4">
            <a:extLst>
              <a:ext uri="{FF2B5EF4-FFF2-40B4-BE49-F238E27FC236}">
                <a16:creationId xmlns:a16="http://schemas.microsoft.com/office/drawing/2014/main" id="{E5CCD066-B71B-CB18-22C6-A57D99C9A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906751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277E9434-7D2B-F8E7-84DB-57983CC0B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67DC83-3A67-A34A-48FB-84C368F78416}"/>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(Collection)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634390A-6082-4C02-3E0E-3072EC84A1B6}"/>
              </a:ext>
            </a:extLst>
          </p:cNvPr>
          <p:cNvSpPr>
            <a:spLocks noGrp="1"/>
          </p:cNvSpPr>
          <p:nvPr>
            <p:ph type="subTitle" idx="1"/>
          </p:nvPr>
        </p:nvSpPr>
        <p:spPr>
          <a:xfrm>
            <a:off x="1352426" y="1783098"/>
            <a:ext cx="9514947" cy="3825460"/>
          </a:xfrm>
        </p:spPr>
        <p:txBody>
          <a:bodyPr>
            <a:noAutofit/>
          </a:bodyPr>
          <a:lstStyle/>
          <a:p>
            <a:pPr algn="l">
              <a:lnSpc>
                <a:spcPct val="120000"/>
              </a:lnSpc>
            </a:pPr>
            <a:r>
              <a:rPr lang="en-US" sz="2800" dirty="0">
                <a:solidFill>
                  <a:schemeClr val="accent6">
                    <a:lumMod val="50000"/>
                  </a:schemeClr>
                </a:solidFill>
              </a:rPr>
              <a:t>The data we required was readily available from public databases, including U.S. Census data, CDC natality data, and county-level presidential election results. Because our project focuses on the county level, the universal usage of the FIPS (Federal Information Processing Standards) code across these databases allowed us to join multiple datasets together efficiently.</a:t>
            </a:r>
          </a:p>
        </p:txBody>
      </p:sp>
      <p:pic>
        <p:nvPicPr>
          <p:cNvPr id="5" name="Picture 4">
            <a:extLst>
              <a:ext uri="{FF2B5EF4-FFF2-40B4-BE49-F238E27FC236}">
                <a16:creationId xmlns:a16="http://schemas.microsoft.com/office/drawing/2014/main" id="{A3AC810F-0F90-A291-6C6C-7FA600E1F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104181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A52A807-E9F6-62E5-7B3D-1F7BC83E9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06B0F-987C-1851-0AE8-26228FCDF76A}"/>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(Challenges)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52A02DB8-8ED6-AF80-6DAF-DA930E4DC1A7}"/>
              </a:ext>
            </a:extLst>
          </p:cNvPr>
          <p:cNvSpPr>
            <a:spLocks noGrp="1"/>
          </p:cNvSpPr>
          <p:nvPr>
            <p:ph type="subTitle" idx="1"/>
          </p:nvPr>
        </p:nvSpPr>
        <p:spPr>
          <a:xfrm>
            <a:off x="1352426" y="1783098"/>
            <a:ext cx="9514947" cy="3825460"/>
          </a:xfrm>
        </p:spPr>
        <p:txBody>
          <a:bodyPr>
            <a:noAutofit/>
          </a:bodyPr>
          <a:lstStyle/>
          <a:p>
            <a:pPr algn="l">
              <a:lnSpc>
                <a:spcPct val="120000"/>
              </a:lnSpc>
            </a:pPr>
            <a:r>
              <a:rPr lang="en-US" sz="2800" dirty="0">
                <a:solidFill>
                  <a:schemeClr val="accent6">
                    <a:lumMod val="50000"/>
                  </a:schemeClr>
                </a:solidFill>
              </a:rPr>
              <a:t>The only significant challenge we overcame was the limited availability of data in counties with smaller populations. Ultimately we decided to focus solely on the larger counties, reasoning that accurate modeling and analysis on the more complete and stable data from these counties would produce the most significant outcome overall.</a:t>
            </a:r>
          </a:p>
        </p:txBody>
      </p:sp>
      <p:pic>
        <p:nvPicPr>
          <p:cNvPr id="5" name="Picture 4">
            <a:extLst>
              <a:ext uri="{FF2B5EF4-FFF2-40B4-BE49-F238E27FC236}">
                <a16:creationId xmlns:a16="http://schemas.microsoft.com/office/drawing/2014/main" id="{C45CA83A-CCBC-7251-3A36-436AE9B51A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975414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9A278D0-6B76-5882-BBDF-2C1F67200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D6695-6D75-0DB5-4815-546591F66CD4}"/>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(Feature Engineering)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3789BD18-E265-1733-3384-B53FA0AE791E}"/>
              </a:ext>
            </a:extLst>
          </p:cNvPr>
          <p:cNvSpPr>
            <a:spLocks noGrp="1"/>
          </p:cNvSpPr>
          <p:nvPr>
            <p:ph type="subTitle" idx="1"/>
          </p:nvPr>
        </p:nvSpPr>
        <p:spPr>
          <a:xfrm>
            <a:off x="1352426" y="1783098"/>
            <a:ext cx="9514947" cy="3825460"/>
          </a:xfrm>
        </p:spPr>
        <p:txBody>
          <a:bodyPr>
            <a:noAutofit/>
          </a:bodyPr>
          <a:lstStyle/>
          <a:p>
            <a:pPr algn="l">
              <a:lnSpc>
                <a:spcPct val="120000"/>
              </a:lnSpc>
            </a:pPr>
            <a:r>
              <a:rPr lang="en-US" sz="2800" dirty="0">
                <a:solidFill>
                  <a:schemeClr val="accent6">
                    <a:lumMod val="50000"/>
                  </a:schemeClr>
                </a:solidFill>
              </a:rPr>
              <a:t>A key feature engineering step involved grouping counties into socio-political “regimes” based on demographic composition and political leanings. This allowed us to capture structural differences between counties that significantly improved the performance of our predictive model.</a:t>
            </a:r>
          </a:p>
        </p:txBody>
      </p:sp>
      <p:pic>
        <p:nvPicPr>
          <p:cNvPr id="5" name="Picture 4">
            <a:extLst>
              <a:ext uri="{FF2B5EF4-FFF2-40B4-BE49-F238E27FC236}">
                <a16:creationId xmlns:a16="http://schemas.microsoft.com/office/drawing/2014/main" id="{34A78538-D00D-AECC-0506-7AA4491056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600062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D8E26A0-A34F-D086-D823-8FCD40477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EEF5D-C05A-B63D-ABD3-22F9F5DE5DF9}"/>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(Feature Engineering)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EBD0A69-4408-A695-16E8-47FCB64B20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097830AA-80B4-7B11-ED3F-237A2CF197A2}"/>
              </a:ext>
            </a:extLst>
          </p:cNvPr>
          <p:cNvSpPr>
            <a:spLocks noGrp="1"/>
          </p:cNvSpPr>
          <p:nvPr>
            <p:ph type="subTitle" idx="1"/>
          </p:nvPr>
        </p:nvSpPr>
        <p:spPr/>
        <p:txBody>
          <a:bodyPr/>
          <a:lstStyle/>
          <a:p>
            <a:endParaRPr lang="en-US"/>
          </a:p>
        </p:txBody>
      </p:sp>
      <p:pic>
        <p:nvPicPr>
          <p:cNvPr id="7" name="Picture 6">
            <a:extLst>
              <a:ext uri="{FF2B5EF4-FFF2-40B4-BE49-F238E27FC236}">
                <a16:creationId xmlns:a16="http://schemas.microsoft.com/office/drawing/2014/main" id="{DB7670C9-5676-97E5-CDE4-62E2501107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4196" y="1605148"/>
            <a:ext cx="5760657" cy="4487364"/>
          </a:xfrm>
          <a:prstGeom prst="rect">
            <a:avLst/>
          </a:prstGeom>
        </p:spPr>
      </p:pic>
    </p:spTree>
    <p:extLst>
      <p:ext uri="{BB962C8B-B14F-4D97-AF65-F5344CB8AC3E}">
        <p14:creationId xmlns:p14="http://schemas.microsoft.com/office/powerpoint/2010/main" val="2964855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15B5A1E-56E8-1510-1AC7-EE6B2527C6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31E83-1E52-89DB-B8C7-1411E6590A0B}"/>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(Feature Engineering)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3D4D8A07-BDD2-AE3E-5172-A76805E01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716133A5-AA03-1C9D-9C36-F3A7BA727C46}"/>
              </a:ext>
            </a:extLst>
          </p:cNvPr>
          <p:cNvSpPr>
            <a:spLocks noGrp="1"/>
          </p:cNvSpPr>
          <p:nvPr>
            <p:ph type="subTitle" idx="1"/>
          </p:nvPr>
        </p:nvSpPr>
        <p:spPr/>
        <p:txBody>
          <a:bodyPr/>
          <a:lstStyle/>
          <a:p>
            <a:endParaRPr lang="en-US" dirty="0"/>
          </a:p>
        </p:txBody>
      </p:sp>
      <p:pic>
        <p:nvPicPr>
          <p:cNvPr id="3" name="Picture 2">
            <a:extLst>
              <a:ext uri="{FF2B5EF4-FFF2-40B4-BE49-F238E27FC236}">
                <a16:creationId xmlns:a16="http://schemas.microsoft.com/office/drawing/2014/main" id="{887A2419-44B1-C8A8-E1B5-5661F39439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62" y="1600200"/>
            <a:ext cx="6857925" cy="483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187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9ACEBCD-3316-7AEC-8A07-78DE5543E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94BB99-C909-F938-C663-91369EF58A90}"/>
              </a:ext>
            </a:extLst>
          </p:cNvPr>
          <p:cNvSpPr>
            <a:spLocks noGrp="1"/>
          </p:cNvSpPr>
          <p:nvPr>
            <p:ph type="ctrTitle"/>
          </p:nvPr>
        </p:nvSpPr>
        <p:spPr>
          <a:xfrm>
            <a:off x="1352426" y="411513"/>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Data (Feature Engineering)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7784C9F-22E8-3BB7-5396-D46E20799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2EB46BF4-3A2B-5319-A577-4D7EAB01DB58}"/>
              </a:ext>
            </a:extLst>
          </p:cNvPr>
          <p:cNvSpPr>
            <a:spLocks noGrp="1"/>
          </p:cNvSpPr>
          <p:nvPr>
            <p:ph type="subTitle" idx="1"/>
          </p:nvPr>
        </p:nvSpPr>
        <p:spPr/>
        <p:txBody>
          <a:bodyPr/>
          <a:lstStyle/>
          <a:p>
            <a:endParaRPr lang="en-US"/>
          </a:p>
        </p:txBody>
      </p:sp>
      <p:pic>
        <p:nvPicPr>
          <p:cNvPr id="3" name="Picture 2">
            <a:extLst>
              <a:ext uri="{FF2B5EF4-FFF2-40B4-BE49-F238E27FC236}">
                <a16:creationId xmlns:a16="http://schemas.microsoft.com/office/drawing/2014/main" id="{2F81A095-1449-7E3D-6EB4-0F405FC90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562" y="1600200"/>
            <a:ext cx="6869252" cy="4866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1549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4E3EAFD-E771-CD29-C394-C9E575380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5A144-FDB0-A8DF-4AEF-86CA07D7BAE1}"/>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 (Baseline)</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9B158FC8-3B97-2684-391B-C0CFCA4608C5}"/>
              </a:ext>
            </a:extLst>
          </p:cNvPr>
          <p:cNvSpPr>
            <a:spLocks noGrp="1"/>
          </p:cNvSpPr>
          <p:nvPr>
            <p:ph type="subTitle" idx="1"/>
          </p:nvPr>
        </p:nvSpPr>
        <p:spPr>
          <a:xfrm>
            <a:off x="1341172" y="1783098"/>
            <a:ext cx="8980557" cy="3825460"/>
          </a:xfrm>
        </p:spPr>
        <p:txBody>
          <a:bodyPr>
            <a:noAutofit/>
          </a:bodyPr>
          <a:lstStyle/>
          <a:p>
            <a:pPr algn="l">
              <a:lnSpc>
                <a:spcPct val="120000"/>
              </a:lnSpc>
            </a:pPr>
            <a:r>
              <a:rPr lang="en-US" sz="2800" dirty="0">
                <a:solidFill>
                  <a:schemeClr val="accent6">
                    <a:lumMod val="50000"/>
                  </a:schemeClr>
                </a:solidFill>
              </a:rPr>
              <a:t>Our baseline model predicts future birth rates using the overall average birth rate across all counties. While this approach performs reasonably well due to the relatively narrow distribution of birth rates, it does not account for meaningful differences between counties. The baseline model resulted in an RMSE of 1.8811 and an MAE of 1.4564.</a:t>
            </a:r>
          </a:p>
        </p:txBody>
      </p:sp>
      <p:pic>
        <p:nvPicPr>
          <p:cNvPr id="5" name="Picture 4">
            <a:extLst>
              <a:ext uri="{FF2B5EF4-FFF2-40B4-BE49-F238E27FC236}">
                <a16:creationId xmlns:a16="http://schemas.microsoft.com/office/drawing/2014/main" id="{572C00F9-D2FB-6577-FA7A-EF10B42364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960149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4C64DCB-8835-17E2-82F1-FCA3266B5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32F8E-88D5-9F98-DD1E-EDF3DCFC9425}"/>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 (Champion)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C57028D-03ED-50BB-4F0F-C64C45E5CD83}"/>
              </a:ext>
            </a:extLst>
          </p:cNvPr>
          <p:cNvSpPr>
            <a:spLocks noGrp="1"/>
          </p:cNvSpPr>
          <p:nvPr>
            <p:ph type="subTitle" idx="1"/>
          </p:nvPr>
        </p:nvSpPr>
        <p:spPr>
          <a:xfrm>
            <a:off x="1341172" y="1783098"/>
            <a:ext cx="8980557" cy="3825460"/>
          </a:xfrm>
        </p:spPr>
        <p:txBody>
          <a:bodyPr>
            <a:noAutofit/>
          </a:bodyPr>
          <a:lstStyle/>
          <a:p>
            <a:pPr algn="l">
              <a:lnSpc>
                <a:spcPct val="120000"/>
              </a:lnSpc>
            </a:pPr>
            <a:r>
              <a:rPr lang="en-US" sz="2500" dirty="0">
                <a:solidFill>
                  <a:schemeClr val="accent6">
                    <a:lumMod val="50000"/>
                  </a:schemeClr>
                </a:solidFill>
              </a:rPr>
              <a:t>Our champion model incorporates both historical trends and structural differences between counties. By grouping counties into seven socio-political categories and modeling the relationship between 2010 and 2020 birth rates within these groups, the model is able to generate more precise 2030 predictions.</a:t>
            </a:r>
          </a:p>
          <a:p>
            <a:pPr algn="l">
              <a:lnSpc>
                <a:spcPct val="120000"/>
              </a:lnSpc>
            </a:pPr>
            <a:r>
              <a:rPr lang="en-US" sz="2500" dirty="0">
                <a:solidFill>
                  <a:schemeClr val="accent6">
                    <a:lumMod val="50000"/>
                  </a:schemeClr>
                </a:solidFill>
              </a:rPr>
              <a:t>This approach resulted in a significantly improved RMSE of 0.7950 and an MAE of 0.6132, representing a substantial reduction in prediction error compared to the baseline model.</a:t>
            </a:r>
          </a:p>
          <a:p>
            <a:pPr algn="l">
              <a:lnSpc>
                <a:spcPct val="120000"/>
              </a:lnSpc>
            </a:pPr>
            <a:endParaRPr lang="en-US" sz="2500" dirty="0">
              <a:solidFill>
                <a:schemeClr val="accent6">
                  <a:lumMod val="50000"/>
                </a:schemeClr>
              </a:solidFill>
            </a:endParaRPr>
          </a:p>
        </p:txBody>
      </p:sp>
      <p:pic>
        <p:nvPicPr>
          <p:cNvPr id="5" name="Picture 4">
            <a:extLst>
              <a:ext uri="{FF2B5EF4-FFF2-40B4-BE49-F238E27FC236}">
                <a16:creationId xmlns:a16="http://schemas.microsoft.com/office/drawing/2014/main" id="{17575437-802D-5BC8-5D62-53058C2742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145459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DB634A7-C007-F0B9-7BBD-4C11C6A057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8C1FA-5EFD-608B-5FFC-0865E2254C2E}"/>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Models (Champion)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CC9D726-087D-27E6-01BF-CC660A14C7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
        <p:nvSpPr>
          <p:cNvPr id="6" name="Subtitle 5">
            <a:extLst>
              <a:ext uri="{FF2B5EF4-FFF2-40B4-BE49-F238E27FC236}">
                <a16:creationId xmlns:a16="http://schemas.microsoft.com/office/drawing/2014/main" id="{3E93EF8B-FB1A-14ED-0CDF-2BBEB36D2A9F}"/>
              </a:ext>
            </a:extLst>
          </p:cNvPr>
          <p:cNvSpPr>
            <a:spLocks noGrp="1"/>
          </p:cNvSpPr>
          <p:nvPr>
            <p:ph type="subTitle" idx="1"/>
          </p:nvPr>
        </p:nvSpPr>
        <p:spPr/>
        <p:txBody>
          <a:bodyPr/>
          <a:lstStyle/>
          <a:p>
            <a:endParaRPr lang="en-US"/>
          </a:p>
        </p:txBody>
      </p:sp>
      <p:pic>
        <p:nvPicPr>
          <p:cNvPr id="3" name="Picture 2">
            <a:extLst>
              <a:ext uri="{FF2B5EF4-FFF2-40B4-BE49-F238E27FC236}">
                <a16:creationId xmlns:a16="http://schemas.microsoft.com/office/drawing/2014/main" id="{E85FCD0C-BB6A-2B00-FCF3-BFD530BA81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367" y="1536332"/>
            <a:ext cx="7644421" cy="4576531"/>
          </a:xfrm>
          <a:prstGeom prst="rect">
            <a:avLst/>
          </a:prstGeom>
        </p:spPr>
      </p:pic>
    </p:spTree>
    <p:extLst>
      <p:ext uri="{BB962C8B-B14F-4D97-AF65-F5344CB8AC3E}">
        <p14:creationId xmlns:p14="http://schemas.microsoft.com/office/powerpoint/2010/main" val="1885116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657D2D9D-39AA-2768-CE40-98DDD1CD88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A781E-3294-AB27-E294-58F104D50493}"/>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User Testing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E50A3B03-42BF-3876-0BDE-BB74FA87226E}"/>
              </a:ext>
            </a:extLst>
          </p:cNvPr>
          <p:cNvSpPr>
            <a:spLocks noGrp="1"/>
          </p:cNvSpPr>
          <p:nvPr>
            <p:ph type="subTitle" idx="1"/>
          </p:nvPr>
        </p:nvSpPr>
        <p:spPr>
          <a:xfrm>
            <a:off x="1341172" y="1783098"/>
            <a:ext cx="8980557" cy="3825460"/>
          </a:xfrm>
        </p:spPr>
        <p:txBody>
          <a:bodyPr>
            <a:noAutofit/>
          </a:bodyPr>
          <a:lstStyle/>
          <a:p>
            <a:pPr algn="l">
              <a:lnSpc>
                <a:spcPct val="120000"/>
              </a:lnSpc>
            </a:pPr>
            <a:r>
              <a:rPr lang="en-US" sz="2800" dirty="0">
                <a:solidFill>
                  <a:schemeClr val="accent6">
                    <a:lumMod val="50000"/>
                  </a:schemeClr>
                </a:solidFill>
              </a:rPr>
              <a:t>Our interactive tool built around the champion model allows users to select a county and observe historical and predicted birth rates for that county, with options to determine how much data is presented.</a:t>
            </a:r>
          </a:p>
        </p:txBody>
      </p:sp>
      <p:pic>
        <p:nvPicPr>
          <p:cNvPr id="5" name="Picture 4">
            <a:extLst>
              <a:ext uri="{FF2B5EF4-FFF2-40B4-BE49-F238E27FC236}">
                <a16:creationId xmlns:a16="http://schemas.microsoft.com/office/drawing/2014/main" id="{D74058D6-AD39-5984-B875-4B214144B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122450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37D2269-A9C4-20C4-D5A4-D20249C5A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7CBE6-E196-1F90-5189-B1CE58FCCA37}"/>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User Testing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AB024D67-77D9-58E1-1578-93BCFE17F794}"/>
              </a:ext>
            </a:extLst>
          </p:cNvPr>
          <p:cNvSpPr>
            <a:spLocks noGrp="1"/>
          </p:cNvSpPr>
          <p:nvPr>
            <p:ph type="subTitle" idx="1"/>
          </p:nvPr>
        </p:nvSpPr>
        <p:spPr>
          <a:xfrm>
            <a:off x="1341172" y="1783098"/>
            <a:ext cx="9052461" cy="3825460"/>
          </a:xfrm>
        </p:spPr>
        <p:txBody>
          <a:bodyPr>
            <a:noAutofit/>
          </a:bodyPr>
          <a:lstStyle/>
          <a:p>
            <a:pPr algn="l">
              <a:lnSpc>
                <a:spcPct val="120000"/>
              </a:lnSpc>
            </a:pPr>
            <a:r>
              <a:rPr lang="en-US" sz="2800" dirty="0">
                <a:solidFill>
                  <a:schemeClr val="accent6">
                    <a:lumMod val="50000"/>
                  </a:schemeClr>
                </a:solidFill>
              </a:rPr>
              <a:t>The most significant surprise we discovered during our user testing was that our users had virtually no idea how to use our tool or what its purpose was.</a:t>
            </a:r>
          </a:p>
          <a:p>
            <a:pPr algn="l">
              <a:lnSpc>
                <a:spcPct val="120000"/>
              </a:lnSpc>
            </a:pPr>
            <a:r>
              <a:rPr lang="en-US" sz="2800" dirty="0">
                <a:solidFill>
                  <a:schemeClr val="accent6">
                    <a:lumMod val="50000"/>
                  </a:schemeClr>
                </a:solidFill>
              </a:rPr>
              <a:t>This should not have been surprising, but we had gotten so caught up in our project that we failed to consider that our users were starting from a completely different location. We added a great deal of explanatory information to correct this.</a:t>
            </a:r>
          </a:p>
        </p:txBody>
      </p:sp>
      <p:pic>
        <p:nvPicPr>
          <p:cNvPr id="5" name="Picture 4">
            <a:extLst>
              <a:ext uri="{FF2B5EF4-FFF2-40B4-BE49-F238E27FC236}">
                <a16:creationId xmlns:a16="http://schemas.microsoft.com/office/drawing/2014/main" id="{22B50BCB-4D31-740A-2290-0326FBDAE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06160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61FEB66-C112-0427-699F-D9F29DC21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267A2-5977-A644-732F-617368CFE638}"/>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User Testing</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0E447E9C-5ED2-646D-2B15-091B663A3DB9}"/>
              </a:ext>
            </a:extLst>
          </p:cNvPr>
          <p:cNvSpPr>
            <a:spLocks noGrp="1"/>
          </p:cNvSpPr>
          <p:nvPr>
            <p:ph type="subTitle" idx="1"/>
          </p:nvPr>
        </p:nvSpPr>
        <p:spPr>
          <a:xfrm>
            <a:off x="1341172" y="1783098"/>
            <a:ext cx="8980557" cy="3825460"/>
          </a:xfrm>
        </p:spPr>
        <p:txBody>
          <a:bodyPr>
            <a:noAutofit/>
          </a:bodyPr>
          <a:lstStyle/>
          <a:p>
            <a:pPr algn="l">
              <a:lnSpc>
                <a:spcPct val="120000"/>
              </a:lnSpc>
            </a:pPr>
            <a:r>
              <a:rPr lang="en-US" sz="2800" dirty="0">
                <a:solidFill>
                  <a:schemeClr val="accent6">
                    <a:lumMod val="50000"/>
                  </a:schemeClr>
                </a:solidFill>
              </a:rPr>
              <a:t>Based on numerous user testing sessions, we made four improvements that dramatically improved the usability of the tool and reduced the time required for users to locate and interpret relevant county data:</a:t>
            </a:r>
          </a:p>
        </p:txBody>
      </p:sp>
      <p:pic>
        <p:nvPicPr>
          <p:cNvPr id="5" name="Picture 4">
            <a:extLst>
              <a:ext uri="{FF2B5EF4-FFF2-40B4-BE49-F238E27FC236}">
                <a16:creationId xmlns:a16="http://schemas.microsoft.com/office/drawing/2014/main" id="{FF4D4A9F-986A-D560-D61A-1E3369E0B3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235109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B0DD1BDA-794E-280C-0B6B-2BA097F27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559E0-9D8D-EF93-730D-7C80FFF09E09}"/>
              </a:ext>
            </a:extLst>
          </p:cNvPr>
          <p:cNvSpPr>
            <a:spLocks noGrp="1"/>
          </p:cNvSpPr>
          <p:nvPr>
            <p:ph type="ctrTitle"/>
          </p:nvPr>
        </p:nvSpPr>
        <p:spPr>
          <a:xfrm>
            <a:off x="1341172" y="419001"/>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User Testing (tool upgrades)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A36E8C2C-2D68-E9B6-F4A5-3A2EA4854AFB}"/>
              </a:ext>
            </a:extLst>
          </p:cNvPr>
          <p:cNvSpPr>
            <a:spLocks noGrp="1"/>
          </p:cNvSpPr>
          <p:nvPr>
            <p:ph type="subTitle" idx="1"/>
          </p:nvPr>
        </p:nvSpPr>
        <p:spPr>
          <a:xfrm>
            <a:off x="1341172" y="1783098"/>
            <a:ext cx="8980557" cy="3825460"/>
          </a:xfrm>
        </p:spPr>
        <p:txBody>
          <a:bodyPr>
            <a:noAutofit/>
          </a:bodyPr>
          <a:lstStyle/>
          <a:p>
            <a:pPr marL="342900" indent="-342900" algn="l">
              <a:lnSpc>
                <a:spcPct val="120000"/>
              </a:lnSpc>
              <a:buFont typeface="Arial" panose="020B0604020202020204" pitchFamily="34" charset="0"/>
              <a:buChar char="•"/>
            </a:pPr>
            <a:r>
              <a:rPr lang="en-US" dirty="0">
                <a:solidFill>
                  <a:schemeClr val="accent6">
                    <a:lumMod val="50000"/>
                  </a:schemeClr>
                </a:solidFill>
              </a:rPr>
              <a:t>Provided introductory, explanatory language to help the user understand the purpose and usage of the tool</a:t>
            </a:r>
          </a:p>
          <a:p>
            <a:pPr marL="342900" indent="-342900" algn="l">
              <a:lnSpc>
                <a:spcPct val="120000"/>
              </a:lnSpc>
              <a:buFont typeface="Arial" panose="020B0604020202020204" pitchFamily="34" charset="0"/>
              <a:buChar char="•"/>
            </a:pPr>
            <a:r>
              <a:rPr lang="en-US" dirty="0">
                <a:solidFill>
                  <a:schemeClr val="accent6">
                    <a:lumMod val="50000"/>
                  </a:schemeClr>
                </a:solidFill>
              </a:rPr>
              <a:t>Added a clear, color-coded key on the state map to ensure that the selected county was clearly marked and county birth rates in the state were identifiable</a:t>
            </a:r>
          </a:p>
          <a:p>
            <a:pPr marL="342900" indent="-342900" algn="l">
              <a:lnSpc>
                <a:spcPct val="120000"/>
              </a:lnSpc>
              <a:buFont typeface="Arial" panose="020B0604020202020204" pitchFamily="34" charset="0"/>
              <a:buChar char="•"/>
            </a:pPr>
            <a:r>
              <a:rPr lang="en-US" dirty="0">
                <a:solidFill>
                  <a:schemeClr val="accent6">
                    <a:lumMod val="50000"/>
                  </a:schemeClr>
                </a:solidFill>
              </a:rPr>
              <a:t>Allowed for pre-selection of a particular state to minimize search time for the desired county</a:t>
            </a:r>
          </a:p>
          <a:p>
            <a:pPr marL="342900" indent="-342900" algn="l">
              <a:lnSpc>
                <a:spcPct val="120000"/>
              </a:lnSpc>
              <a:buFont typeface="Arial" panose="020B0604020202020204" pitchFamily="34" charset="0"/>
              <a:buChar char="•"/>
            </a:pPr>
            <a:r>
              <a:rPr lang="en-US" dirty="0">
                <a:solidFill>
                  <a:schemeClr val="accent6">
                    <a:lumMod val="50000"/>
                  </a:schemeClr>
                </a:solidFill>
              </a:rPr>
              <a:t>Included a pre-selection for socio-economic category to allow users to more narrowly focus their search</a:t>
            </a:r>
          </a:p>
        </p:txBody>
      </p:sp>
      <p:pic>
        <p:nvPicPr>
          <p:cNvPr id="5" name="Picture 4">
            <a:extLst>
              <a:ext uri="{FF2B5EF4-FFF2-40B4-BE49-F238E27FC236}">
                <a16:creationId xmlns:a16="http://schemas.microsoft.com/office/drawing/2014/main" id="{C7EE24B3-7792-13A2-9D13-4C5D39F8D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2132493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A857690-6868-076C-1E53-B23AF329E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681644-D3B9-92F8-C409-B185DA8CE0DA}"/>
              </a:ext>
            </a:extLst>
          </p:cNvPr>
          <p:cNvSpPr>
            <a:spLocks noGrp="1"/>
          </p:cNvSpPr>
          <p:nvPr>
            <p:ph type="ctrTitle"/>
          </p:nvPr>
        </p:nvSpPr>
        <p:spPr>
          <a:xfrm>
            <a:off x="1360557" y="398397"/>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Demonstration</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0D685764-FA63-CEA0-9A1E-49DF8C837409}"/>
              </a:ext>
            </a:extLst>
          </p:cNvPr>
          <p:cNvSpPr>
            <a:spLocks noGrp="1"/>
          </p:cNvSpPr>
          <p:nvPr>
            <p:ph type="subTitle" idx="1"/>
          </p:nvPr>
        </p:nvSpPr>
        <p:spPr>
          <a:xfrm>
            <a:off x="1524000" y="2129183"/>
            <a:ext cx="8980557" cy="3825460"/>
          </a:xfrm>
        </p:spPr>
        <p:txBody>
          <a:bodyPr>
            <a:noAutofit/>
          </a:bodyPr>
          <a:lstStyle/>
          <a:p>
            <a:pPr algn="l">
              <a:lnSpc>
                <a:spcPct val="120000"/>
              </a:lnSpc>
            </a:pPr>
            <a:r>
              <a:rPr lang="en-US" sz="2800" b="1" dirty="0">
                <a:solidFill>
                  <a:schemeClr val="accent6">
                    <a:lumMod val="50000"/>
                  </a:schemeClr>
                </a:solidFill>
              </a:rPr>
              <a:t>A live walkthrough of our interactive tool</a:t>
            </a:r>
            <a:endParaRPr lang="en-US" dirty="0">
              <a:solidFill>
                <a:schemeClr val="accent6">
                  <a:lumMod val="50000"/>
                </a:schemeClr>
              </a:solidFill>
            </a:endParaRPr>
          </a:p>
        </p:txBody>
      </p:sp>
      <p:pic>
        <p:nvPicPr>
          <p:cNvPr id="5" name="Picture 4">
            <a:extLst>
              <a:ext uri="{FF2B5EF4-FFF2-40B4-BE49-F238E27FC236}">
                <a16:creationId xmlns:a16="http://schemas.microsoft.com/office/drawing/2014/main" id="{E6A7302E-6DCB-4DC8-EFC3-0B8D65A75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416449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5F8D5FA-5FEC-2508-19E4-EC99B560E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B7DCC-1E8C-EF57-CB5B-6132E432310B}"/>
              </a:ext>
            </a:extLst>
          </p:cNvPr>
          <p:cNvSpPr>
            <a:spLocks noGrp="1"/>
          </p:cNvSpPr>
          <p:nvPr>
            <p:ph type="ctrTitle"/>
          </p:nvPr>
        </p:nvSpPr>
        <p:spPr>
          <a:xfrm>
            <a:off x="1341172" y="411513"/>
            <a:ext cx="9144000" cy="1708736"/>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Recommendations</a:t>
            </a:r>
            <a:br>
              <a:rPr lang="en-US" b="1" dirty="0">
                <a:solidFill>
                  <a:schemeClr val="bg1">
                    <a:lumMod val="65000"/>
                    <a:lumOff val="35000"/>
                  </a:schemeClr>
                </a:solidFill>
                <a:latin typeface="Calibri" panose="020F0502020204030204" pitchFamily="34" charset="0"/>
                <a:cs typeface="Calibri" panose="020F0502020204030204" pitchFamily="34" charset="0"/>
              </a:rPr>
            </a:br>
            <a:r>
              <a:rPr lang="en-US" b="1" dirty="0">
                <a:solidFill>
                  <a:schemeClr val="bg1">
                    <a:lumMod val="65000"/>
                    <a:lumOff val="35000"/>
                  </a:schemeClr>
                </a:solidFill>
                <a:latin typeface="Calibri" panose="020F0502020204030204" pitchFamily="34" charset="0"/>
                <a:cs typeface="Calibri" panose="020F0502020204030204" pitchFamily="34" charset="0"/>
              </a:rPr>
              <a:t>and Future Work</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5D120B8-345D-FC9E-965E-85AF161C3973}"/>
              </a:ext>
            </a:extLst>
          </p:cNvPr>
          <p:cNvSpPr>
            <a:spLocks noGrp="1"/>
          </p:cNvSpPr>
          <p:nvPr>
            <p:ph type="subTitle" idx="1"/>
          </p:nvPr>
        </p:nvSpPr>
        <p:spPr>
          <a:xfrm>
            <a:off x="1341172" y="2337441"/>
            <a:ext cx="8980557" cy="3825460"/>
          </a:xfrm>
        </p:spPr>
        <p:txBody>
          <a:bodyPr>
            <a:noAutofit/>
          </a:bodyPr>
          <a:lstStyle/>
          <a:p>
            <a:pPr algn="l">
              <a:lnSpc>
                <a:spcPct val="120000"/>
              </a:lnSpc>
            </a:pPr>
            <a:r>
              <a:rPr lang="en-US" sz="2800" dirty="0">
                <a:solidFill>
                  <a:schemeClr val="accent6">
                    <a:lumMod val="50000"/>
                  </a:schemeClr>
                </a:solidFill>
              </a:rPr>
              <a:t>Our findings suggest that birth rate trends are not uniform across counties, but instead vary systematically based on demographic and socio-political characteristics. Stakeholders should prioritize targeted, region-specific policies rather than broad national approaches, focusing on areas where declining birth rates are most pronounced.</a:t>
            </a:r>
          </a:p>
        </p:txBody>
      </p:sp>
      <p:pic>
        <p:nvPicPr>
          <p:cNvPr id="5" name="Picture 4">
            <a:extLst>
              <a:ext uri="{FF2B5EF4-FFF2-40B4-BE49-F238E27FC236}">
                <a16:creationId xmlns:a16="http://schemas.microsoft.com/office/drawing/2014/main" id="{960AD852-ABFC-CA17-5F51-8B3709823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085311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8482D49-77CC-654A-6086-F9061482C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3C56E-BF5E-C736-0626-DA00F0F20FAC}"/>
              </a:ext>
            </a:extLst>
          </p:cNvPr>
          <p:cNvSpPr>
            <a:spLocks noGrp="1"/>
          </p:cNvSpPr>
          <p:nvPr>
            <p:ph type="ctrTitle"/>
          </p:nvPr>
        </p:nvSpPr>
        <p:spPr>
          <a:xfrm>
            <a:off x="1341172" y="411513"/>
            <a:ext cx="9144000" cy="1708736"/>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Recommendations</a:t>
            </a:r>
            <a:br>
              <a:rPr lang="en-US" b="1" dirty="0">
                <a:solidFill>
                  <a:schemeClr val="bg1">
                    <a:lumMod val="65000"/>
                    <a:lumOff val="35000"/>
                  </a:schemeClr>
                </a:solidFill>
                <a:latin typeface="Calibri" panose="020F0502020204030204" pitchFamily="34" charset="0"/>
                <a:cs typeface="Calibri" panose="020F0502020204030204" pitchFamily="34" charset="0"/>
              </a:rPr>
            </a:br>
            <a:r>
              <a:rPr lang="en-US" b="1" dirty="0">
                <a:solidFill>
                  <a:schemeClr val="bg1">
                    <a:lumMod val="65000"/>
                    <a:lumOff val="35000"/>
                  </a:schemeClr>
                </a:solidFill>
                <a:latin typeface="Calibri" panose="020F0502020204030204" pitchFamily="34" charset="0"/>
                <a:cs typeface="Calibri" panose="020F0502020204030204" pitchFamily="34" charset="0"/>
              </a:rPr>
              <a:t>and Future Work</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CB0F3AD6-EA87-3ABB-C01E-C60AD2E5D3E8}"/>
              </a:ext>
            </a:extLst>
          </p:cNvPr>
          <p:cNvSpPr>
            <a:spLocks noGrp="1"/>
          </p:cNvSpPr>
          <p:nvPr>
            <p:ph type="subTitle" idx="1"/>
          </p:nvPr>
        </p:nvSpPr>
        <p:spPr>
          <a:xfrm>
            <a:off x="1341172" y="2337441"/>
            <a:ext cx="8980557" cy="3825460"/>
          </a:xfrm>
        </p:spPr>
        <p:txBody>
          <a:bodyPr>
            <a:noAutofit/>
          </a:bodyPr>
          <a:lstStyle/>
          <a:p>
            <a:pPr algn="l">
              <a:lnSpc>
                <a:spcPct val="120000"/>
              </a:lnSpc>
            </a:pPr>
            <a:r>
              <a:rPr lang="en-US" sz="2800" dirty="0">
                <a:solidFill>
                  <a:schemeClr val="accent6">
                    <a:lumMod val="50000"/>
                  </a:schemeClr>
                </a:solidFill>
              </a:rPr>
              <a:t>Given additional time, we would expand the model to incorporate additional variables such as economic indicators, housing costs, and healthcare access, which may further improve predictive accuracy. We would also seek direct feedback from policymakers and community stakeholders to refine the tool and better align it with real-world decision-making needs.</a:t>
            </a:r>
          </a:p>
        </p:txBody>
      </p:sp>
      <p:pic>
        <p:nvPicPr>
          <p:cNvPr id="5" name="Picture 4">
            <a:extLst>
              <a:ext uri="{FF2B5EF4-FFF2-40B4-BE49-F238E27FC236}">
                <a16:creationId xmlns:a16="http://schemas.microsoft.com/office/drawing/2014/main" id="{98A047CD-56F9-0D29-58FE-381C8FB5C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166658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4A98B559-ECCC-CB40-498C-AD13753E0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70D88-DE84-8BA8-75F1-5D4D432CD862}"/>
              </a:ext>
            </a:extLst>
          </p:cNvPr>
          <p:cNvSpPr>
            <a:spLocks noGrp="1"/>
          </p:cNvSpPr>
          <p:nvPr>
            <p:ph type="ctrTitle"/>
          </p:nvPr>
        </p:nvSpPr>
        <p:spPr>
          <a:xfrm>
            <a:off x="1341172" y="502952"/>
            <a:ext cx="9143900" cy="885785"/>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Conclusions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D593EE4A-3EC0-B2F2-98D3-4DBE0F6A0599}"/>
              </a:ext>
            </a:extLst>
          </p:cNvPr>
          <p:cNvSpPr>
            <a:spLocks noGrp="1"/>
          </p:cNvSpPr>
          <p:nvPr>
            <p:ph type="subTitle" idx="1"/>
          </p:nvPr>
        </p:nvSpPr>
        <p:spPr>
          <a:xfrm>
            <a:off x="1341172" y="1600220"/>
            <a:ext cx="8980557" cy="3825460"/>
          </a:xfrm>
        </p:spPr>
        <p:txBody>
          <a:bodyPr>
            <a:noAutofit/>
          </a:bodyPr>
          <a:lstStyle/>
          <a:p>
            <a:pPr algn="l">
              <a:lnSpc>
                <a:spcPct val="120000"/>
              </a:lnSpc>
            </a:pPr>
            <a:r>
              <a:rPr lang="en-US" sz="2800" dirty="0">
                <a:solidFill>
                  <a:schemeClr val="accent6">
                    <a:lumMod val="50000"/>
                  </a:schemeClr>
                </a:solidFill>
              </a:rPr>
              <a:t>Our project produced a functional, interactive tool that allows significant insight into a major problem being faced in nearly every community in the United States.</a:t>
            </a:r>
          </a:p>
          <a:p>
            <a:pPr algn="l">
              <a:lnSpc>
                <a:spcPct val="120000"/>
              </a:lnSpc>
            </a:pPr>
            <a:r>
              <a:rPr lang="en-US" sz="2800" dirty="0">
                <a:solidFill>
                  <a:schemeClr val="accent6">
                    <a:lumMod val="50000"/>
                  </a:schemeClr>
                </a:solidFill>
              </a:rPr>
              <a:t>A tool like this demonstrates just how valuable the field of data science can be when its potential is realized by decision-making stakeholders in both the public and private sector.</a:t>
            </a:r>
          </a:p>
        </p:txBody>
      </p:sp>
      <p:pic>
        <p:nvPicPr>
          <p:cNvPr id="5" name="Picture 4">
            <a:extLst>
              <a:ext uri="{FF2B5EF4-FFF2-40B4-BE49-F238E27FC236}">
                <a16:creationId xmlns:a16="http://schemas.microsoft.com/office/drawing/2014/main" id="{C383E3E9-B166-6E4C-27D6-C56DBE0398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spTree>
    <p:extLst>
      <p:ext uri="{BB962C8B-B14F-4D97-AF65-F5344CB8AC3E}">
        <p14:creationId xmlns:p14="http://schemas.microsoft.com/office/powerpoint/2010/main" val="3185782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F2119F60-9B3A-A819-1823-60424B892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F9B4A-FA0F-D1EE-6920-FD642A29A998}"/>
              </a:ext>
            </a:extLst>
          </p:cNvPr>
          <p:cNvSpPr>
            <a:spLocks noGrp="1"/>
          </p:cNvSpPr>
          <p:nvPr>
            <p:ph type="ctrTitle"/>
          </p:nvPr>
        </p:nvSpPr>
        <p:spPr>
          <a:xfrm>
            <a:off x="1341172" y="391842"/>
            <a:ext cx="9144000" cy="1068663"/>
          </a:xfrm>
        </p:spPr>
        <p:txBody>
          <a:bodyPr>
            <a:noAutofit/>
          </a:bodyPr>
          <a:lstStyle/>
          <a:p>
            <a:pPr algn="l"/>
            <a:r>
              <a:rPr lang="en-US" b="1" dirty="0">
                <a:solidFill>
                  <a:schemeClr val="bg1">
                    <a:lumMod val="65000"/>
                    <a:lumOff val="35000"/>
                  </a:schemeClr>
                </a:solidFill>
                <a:latin typeface="Calibri" panose="020F0502020204030204" pitchFamily="34" charset="0"/>
                <a:cs typeface="Calibri" panose="020F0502020204030204" pitchFamily="34" charset="0"/>
              </a:rPr>
              <a:t>Questions / Comments</a:t>
            </a:r>
            <a:endParaRPr lang="en-US" dirty="0">
              <a:solidFill>
                <a:schemeClr val="bg1">
                  <a:lumMod val="65000"/>
                  <a:lumOff val="35000"/>
                </a:schemeClr>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F3B4AD1-531B-D573-A43A-A3A95D9B3B74}"/>
              </a:ext>
            </a:extLst>
          </p:cNvPr>
          <p:cNvSpPr>
            <a:spLocks noGrp="1"/>
          </p:cNvSpPr>
          <p:nvPr>
            <p:ph type="subTitle" idx="1"/>
          </p:nvPr>
        </p:nvSpPr>
        <p:spPr>
          <a:xfrm>
            <a:off x="1981245" y="5989292"/>
            <a:ext cx="9529191" cy="476866"/>
          </a:xfrm>
        </p:spPr>
        <p:txBody>
          <a:bodyPr>
            <a:noAutofit/>
          </a:bodyPr>
          <a:lstStyle/>
          <a:p>
            <a:pPr algn="l">
              <a:lnSpc>
                <a:spcPct val="120000"/>
              </a:lnSpc>
            </a:pPr>
            <a:r>
              <a:rPr lang="en-US" sz="3600" b="1" dirty="0">
                <a:solidFill>
                  <a:srgbClr val="C00000"/>
                </a:solidFill>
              </a:rPr>
              <a:t>CONFIDENTIAL – DO NOT USE IN PRESENTATION</a:t>
            </a:r>
          </a:p>
        </p:txBody>
      </p:sp>
      <p:pic>
        <p:nvPicPr>
          <p:cNvPr id="5" name="Picture 4">
            <a:extLst>
              <a:ext uri="{FF2B5EF4-FFF2-40B4-BE49-F238E27FC236}">
                <a16:creationId xmlns:a16="http://schemas.microsoft.com/office/drawing/2014/main" id="{121E2DF0-D62A-0D7E-E06E-EE815631C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791" y="6169019"/>
            <a:ext cx="1373156" cy="388509"/>
          </a:xfrm>
          <a:prstGeom prst="rect">
            <a:avLst/>
          </a:prstGeom>
        </p:spPr>
      </p:pic>
      <p:pic>
        <p:nvPicPr>
          <p:cNvPr id="7" name="Picture 6">
            <a:extLst>
              <a:ext uri="{FF2B5EF4-FFF2-40B4-BE49-F238E27FC236}">
                <a16:creationId xmlns:a16="http://schemas.microsoft.com/office/drawing/2014/main" id="{741C5DA6-9E92-16E1-13CF-B6A9BD1D5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367" y="1600220"/>
            <a:ext cx="6665230" cy="4443486"/>
          </a:xfrm>
          <a:prstGeom prst="rect">
            <a:avLst/>
          </a:prstGeom>
        </p:spPr>
      </p:pic>
    </p:spTree>
    <p:extLst>
      <p:ext uri="{BB962C8B-B14F-4D97-AF65-F5344CB8AC3E}">
        <p14:creationId xmlns:p14="http://schemas.microsoft.com/office/powerpoint/2010/main" val="5860036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2013 - 2022 Theme</Template>
  <TotalTime>116</TotalTime>
  <Words>946</Words>
  <Application>Microsoft Office PowerPoint</Application>
  <PresentationFormat>Widescreen</PresentationFormat>
  <Paragraphs>47</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Birth Rate Forecasting and Policy Insights</vt:lpstr>
      <vt:lpstr>Executive Summary</vt:lpstr>
      <vt:lpstr>Executive Summary</vt:lpstr>
      <vt:lpstr>Executive Summary</vt:lpstr>
      <vt:lpstr>Data (Collection)</vt:lpstr>
      <vt:lpstr>Data (Challenges)</vt:lpstr>
      <vt:lpstr>Data (Feature Engineering)</vt:lpstr>
      <vt:lpstr>Data (Feature Engineering)</vt:lpstr>
      <vt:lpstr>Data (Feature Engineering)</vt:lpstr>
      <vt:lpstr>Data (Feature Engineering)</vt:lpstr>
      <vt:lpstr>Models (Baseline)</vt:lpstr>
      <vt:lpstr>Models (Champion)</vt:lpstr>
      <vt:lpstr>Models (Champion)</vt:lpstr>
      <vt:lpstr>User Testing</vt:lpstr>
      <vt:lpstr>User Testing</vt:lpstr>
      <vt:lpstr>User Testing</vt:lpstr>
      <vt:lpstr>User Testing (tool upgrades)</vt:lpstr>
      <vt:lpstr>Demonstration</vt:lpstr>
      <vt:lpstr>Recommendations and Future Work</vt:lpstr>
      <vt:lpstr>Recommendations and Future Work</vt:lpstr>
      <vt:lpstr>Conclusions</vt:lpstr>
      <vt:lpstr>Questions /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Dave Hulme</dc:creator>
  <cp:lastModifiedBy>Dave Hulme</cp:lastModifiedBy>
  <cp:revision>10</cp:revision>
  <dcterms:created xsi:type="dcterms:W3CDTF">2026-03-14T22:43:24Z</dcterms:created>
  <dcterms:modified xsi:type="dcterms:W3CDTF">2026-04-20T23:31:19Z</dcterms:modified>
</cp:coreProperties>
</file>